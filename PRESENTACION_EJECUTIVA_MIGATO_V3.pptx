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Saludos cordiales a la Dirección de MIGATO. Hoy venimos a presentar la solución tecnológica definitiva para coordinar las 44 parroquias de Monagas y resguardar el voto. Todo el software ya fue desarrollado por nuestro equipo sin costo de honorarios; el único objetivo de hoy es aprobar un presupuesto mínimo de $24.50 al mes para el servidor cloud.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Compañeros, la gestión pública actual fracasó por falta de método y exceso de politiquería. Nosotros proponemos orden gerencial y competencia técnica. No podemos seguir organizando elecciones ni levantando censos por WhatsApp. Necesitamos un sistema profesional que proteja a nuestra gente.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Esta plataforma no es un concepto en papel: ya está programada. Cubre las 5 áreas neurálgicas: despacho de enlaces, censo vecinal, defensa electoral, mapa estratégico 3D y auditoría de hospitales. Todo integrado en un solo entorno web.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mayor temor de nuestra gente en la calle es que les revisen el teléfono. Diseñamos la plataforma con seguridad por defecto: el coordinador entra con un solo clic y, al llenar el censo, en su celular queda CERO información. Si le revisan el teléfono, no hay absolutamente nada.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Módulo 3 no es un intermediario del CNE ni promete milagros: es una herramienta de control interno del partido. Tenemos georreferenciados los 175 centros de Maturín. Nuestros testigos suben la foto del acta con su código QR para tener nuestro propio respaldo auditable y blindado.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Módulo 4 nos da visión tridimensional para planificar logística sin perdernos en el mapa. Y el Módulo 5 de Salud es nuestra mejor bandera: 84 centros diagnosticados. Le mostramos a Monagas exactamente qué falla y cómo lo vamos a solucionar con datos en la mano.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Una plataforma de este calibre no puede vivir en un hosting gratuito ni en servidores compartidos baratos donde te suspenden la cuenta sin aviso. Necesitamos un VPS privado dedicado con cifrado de 256 bits y pruebas de estrés para que jamás se caiga.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Miren los números con total transparencia: son exactamente 294 dólares AL AÑO. No estamos cobrando un solo centavo por el desarrollo de la plataforma, que en el mercado corporativo costaría miles de dólares. Solo pedimos el costo directo de la nube: 24 dólares y medio al mes para encender el servidor.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No venimos a pedir presupuestos gigantescos para computadoras o pantallas ahora mismo. Eso es la Fase 2. Hoy solo venimos por la Fase 1: los 294 dólares para encender el servidor y validar las 3 parroquias piloto más grandes de Maturín.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Para cerrar: la herramienta está lista. No hay que esperar meses de desarrollo. Si la dirección aprueba hoy los 294 dólares, en 48 horas tenemos el servidor arriba y los coordinadores probando en Las Cocuizas, San Simón y Los Godos. Quedamos a su disposición para cualquier pregunta técnica.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migato.png"/>
          <p:cNvPicPr>
            <a:picLocks noChangeAspect="1"/>
          </p:cNvPicPr>
          <p:nvPr/>
        </p:nvPicPr>
        <p:blipFill>
          <a:blip r:embed="rId2"/>
          <a:stretch>
            <a:fillRect/>
          </a:stretch>
        </p:blipFill>
        <p:spPr>
          <a:xfrm>
            <a:off x="5303520" y="731520"/>
            <a:ext cx="1645920" cy="1645920"/>
          </a:xfrm>
          <a:prstGeom prst="rect">
            <a:avLst/>
          </a:prstGeom>
        </p:spPr>
      </p:pic>
      <p:sp>
        <p:nvSpPr>
          <p:cNvPr id="4" name="TextBox 3"/>
          <p:cNvSpPr txBox="1"/>
          <p:nvPr/>
        </p:nvSpPr>
        <p:spPr>
          <a:xfrm>
            <a:off x="914400" y="2560320"/>
            <a:ext cx="10362895" cy="3657600"/>
          </a:xfrm>
          <a:prstGeom prst="rect">
            <a:avLst/>
          </a:prstGeom>
          <a:noFill/>
        </p:spPr>
        <p:txBody>
          <a:bodyPr wrap="square">
            <a:spAutoFit/>
          </a:bodyPr>
          <a:lstStyle/>
          <a:p>
            <a:pPr algn="ctr">
              <a:defRPr sz="1300" b="1">
                <a:solidFill>
                  <a:srgbClr val="38BDF8"/>
                </a:solidFill>
                <a:latin typeface="Arial"/>
              </a:defRPr>
            </a:pPr>
            <a:r>
              <a:t>REPÚBLICA BOLIVARIANA DE VENEZUELA • ESTADO MONAGAS</a:t>
            </a:r>
          </a:p>
          <a:p>
            <a:pPr algn="ctr">
              <a:spcAft>
                <a:spcPts val="1400"/>
              </a:spcAft>
              <a:defRPr sz="1500" b="1">
                <a:solidFill>
                  <a:srgbClr val="FFFFFF"/>
                </a:solidFill>
                <a:latin typeface="Arial"/>
              </a:defRPr>
            </a:pPr>
            <a:r>
              <a:t>MOVIMIENTO INDEPENDIENTE GANAMOS TODOS (MIGATO)</a:t>
            </a:r>
          </a:p>
          <a:p>
            <a:pPr algn="ctr">
              <a:spcAft>
                <a:spcPts val="1000"/>
              </a:spcAft>
              <a:defRPr sz="2600" b="1">
                <a:solidFill>
                  <a:srgbClr val="FFFFFF"/>
                </a:solidFill>
                <a:latin typeface="Arial"/>
              </a:defRPr>
            </a:pPr>
            <a:r>
              <a:t>ARQUITECTURA DE GESTIÓN TERRITORIAL, SEGURIDAD</a:t>
            </a:r>
            <a:br/>
            <a:r>
              <a:t>Y PRESUPUESTO OPERATIVO DE SERVIDORES</a:t>
            </a:r>
          </a:p>
          <a:p>
            <a:pPr algn="ctr">
              <a:spcAft>
                <a:spcPts val="2000"/>
              </a:spcAft>
              <a:defRPr sz="1500" i="1">
                <a:solidFill>
                  <a:srgbClr val="E2E8F0"/>
                </a:solidFill>
                <a:latin typeface="Arial"/>
              </a:defRPr>
            </a:pPr>
            <a:r>
              <a:t>Propuesta de Factibilidad Técnica de los 5 Módulos y Servidor Cloud VPS Privado</a:t>
            </a:r>
          </a:p>
          <a:p>
            <a:pPr algn="ctr">
              <a:defRPr sz="1200">
                <a:solidFill>
                  <a:srgbClr val="94A3B8"/>
                </a:solidFill>
                <a:latin typeface="Arial"/>
              </a:defRPr>
            </a:pPr>
            <a:r>
              <a:t>Presentado por el Equipo Técnico de Sistemas y Arquitectura Digital • Maturín, Septiembre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38BDF8"/>
                </a:solidFill>
                <a:latin typeface="Arial"/>
              </a:defRPr>
            </a:pPr>
            <a:r>
              <a:t>MIGATO • EQUIPO TÉCNICO DE SISTEMAS</a:t>
            </a:r>
          </a:p>
        </p:txBody>
      </p:sp>
      <p:sp>
        <p:nvSpPr>
          <p:cNvPr id="4" name="TextBox 3"/>
          <p:cNvSpPr txBox="1"/>
          <p:nvPr/>
        </p:nvSpPr>
        <p:spPr>
          <a:xfrm>
            <a:off x="731520" y="685800"/>
            <a:ext cx="9601200" cy="731520"/>
          </a:xfrm>
          <a:prstGeom prst="rect">
            <a:avLst/>
          </a:prstGeom>
          <a:noFill/>
        </p:spPr>
        <p:txBody>
          <a:bodyPr wrap="square">
            <a:spAutoFit/>
          </a:bodyPr>
          <a:lstStyle/>
          <a:p>
            <a:pPr>
              <a:defRPr sz="2400" b="1">
                <a:solidFill>
                  <a:srgbClr val="FFFFFF"/>
                </a:solidFill>
                <a:latin typeface="Arial"/>
              </a:defRPr>
            </a:pPr>
            <a:r>
              <a:t>El Desafío en Monagas: Centralismo Ineficiente vs. Rigor Gerencial</a:t>
            </a:r>
          </a:p>
        </p:txBody>
      </p:sp>
      <p:pic>
        <p:nvPicPr>
          <p:cNvPr id="5" name="Picture 4" descr="logo-migato.png"/>
          <p:cNvPicPr>
            <a:picLocks noChangeAspect="1"/>
          </p:cNvPicPr>
          <p:nvPr/>
        </p:nvPicPr>
        <p:blipFill>
          <a:blip r:embed="rId2"/>
          <a:stretch>
            <a:fillRect/>
          </a:stretch>
        </p:blipFill>
        <p:spPr>
          <a:xfrm>
            <a:off x="10789920" y="365760"/>
            <a:ext cx="731520" cy="731520"/>
          </a:xfrm>
          <a:prstGeom prst="rect">
            <a:avLst/>
          </a:prstGeom>
        </p:spPr>
      </p:pic>
      <p:sp>
        <p:nvSpPr>
          <p:cNvPr id="6" name="Rectangle 5"/>
          <p:cNvSpPr/>
          <p:nvPr/>
        </p:nvSpPr>
        <p:spPr>
          <a:xfrm>
            <a:off x="731520" y="14630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5120640" cy="4389120"/>
          </a:xfrm>
          <a:prstGeom prst="roundRect">
            <a:avLst/>
          </a:prstGeom>
          <a:solidFill>
            <a:srgbClr val="1E293B"/>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4572000" cy="4023360"/>
          </a:xfrm>
          <a:prstGeom prst="rect">
            <a:avLst/>
          </a:prstGeom>
          <a:noFill/>
        </p:spPr>
        <p:txBody>
          <a:bodyPr wrap="square">
            <a:spAutoFit/>
          </a:bodyPr>
          <a:lstStyle/>
          <a:p>
            <a:pPr>
              <a:spcAft>
                <a:spcPts val="1400"/>
              </a:spcAft>
              <a:defRPr sz="1600" b="1">
                <a:solidFill>
                  <a:srgbClr val="F87171"/>
                </a:solidFill>
                <a:latin typeface="Arial"/>
              </a:defRPr>
            </a:pPr>
            <a:r>
              <a:t>⚠️ El Esquema Actual (Colapso e Improvisación)</a:t>
            </a:r>
          </a:p>
          <a:p>
            <a:pPr>
              <a:spcAft>
                <a:spcPts val="800"/>
              </a:spcAft>
              <a:defRPr sz="1300">
                <a:solidFill>
                  <a:srgbClr val="E2E8F0"/>
                </a:solidFill>
                <a:latin typeface="Arial"/>
              </a:defRPr>
            </a:pPr>
            <a:r>
              <a:t>• Servicios públicos colapsados: hospitales sin luz ni agua, transformadores dañados y vialidad destruida.</a:t>
            </a:r>
          </a:p>
          <a:p>
            <a:pPr>
              <a:spcAft>
                <a:spcPts val="800"/>
              </a:spcAft>
              <a:defRPr sz="1300">
                <a:solidFill>
                  <a:srgbClr val="E2E8F0"/>
                </a:solidFill>
                <a:latin typeface="Arial"/>
              </a:defRPr>
            </a:pPr>
            <a:r>
              <a:t>• Manejo burocrático y clientelar que carece de métricas técnicas reales de la población.</a:t>
            </a:r>
          </a:p>
          <a:p>
            <a:pPr>
              <a:spcAft>
                <a:spcPts val="800"/>
              </a:spcAft>
              <a:defRPr sz="1300">
                <a:solidFill>
                  <a:srgbClr val="E2E8F0"/>
                </a:solidFill>
                <a:latin typeface="Arial"/>
              </a:defRPr>
            </a:pPr>
            <a:r>
              <a:t>• Comunicaciones en grupos masivos de WhatsApp: datos dispersos, fugas de información y riesgo de espionaje.</a:t>
            </a:r>
          </a:p>
          <a:p>
            <a:pPr>
              <a:spcAft>
                <a:spcPts val="800"/>
              </a:spcAft>
              <a:defRPr sz="1300">
                <a:solidFill>
                  <a:srgbClr val="E2E8F0"/>
                </a:solidFill>
                <a:latin typeface="Arial"/>
              </a:defRPr>
            </a:pPr>
            <a:r>
              <a:t>• Exposición de la militancia ante revisiones indebidas de teléfonos en la calle.</a:t>
            </a:r>
          </a:p>
        </p:txBody>
      </p:sp>
      <p:sp>
        <p:nvSpPr>
          <p:cNvPr id="9" name="Rounded Rectangle 8"/>
          <p:cNvSpPr/>
          <p:nvPr/>
        </p:nvSpPr>
        <p:spPr>
          <a:xfrm>
            <a:off x="6217920" y="1737360"/>
            <a:ext cx="5212080" cy="4389120"/>
          </a:xfrm>
          <a:prstGeom prst="roundRect">
            <a:avLst/>
          </a:prstGeom>
          <a:solidFill>
            <a:srgbClr val="1E293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20240"/>
            <a:ext cx="4663440" cy="4023360"/>
          </a:xfrm>
          <a:prstGeom prst="rect">
            <a:avLst/>
          </a:prstGeom>
          <a:noFill/>
        </p:spPr>
        <p:txBody>
          <a:bodyPr wrap="square">
            <a:spAutoFit/>
          </a:bodyPr>
          <a:lstStyle/>
          <a:p>
            <a:pPr>
              <a:spcAft>
                <a:spcPts val="1400"/>
              </a:spcAft>
              <a:defRPr sz="1600" b="1">
                <a:solidFill>
                  <a:srgbClr val="38BDF8"/>
                </a:solidFill>
                <a:latin typeface="Arial"/>
              </a:defRPr>
            </a:pPr>
            <a:r>
              <a:t>🏛️ La Alternativa MIGATO (Orden y Gerencia Privada)</a:t>
            </a:r>
          </a:p>
          <a:p>
            <a:pPr>
              <a:spcAft>
                <a:spcPts val="800"/>
              </a:spcAft>
              <a:defRPr sz="1300">
                <a:solidFill>
                  <a:srgbClr val="E2E8F0"/>
                </a:solidFill>
                <a:latin typeface="Arial"/>
              </a:defRPr>
            </a:pPr>
            <a:r>
              <a:t>• Supremacía del mérito técnico, eficiencia y estándares corporativos de primer mundo.</a:t>
            </a:r>
          </a:p>
          <a:p>
            <a:pPr>
              <a:spcAft>
                <a:spcPts val="800"/>
              </a:spcAft>
              <a:defRPr sz="1300">
                <a:solidFill>
                  <a:srgbClr val="E2E8F0"/>
                </a:solidFill>
                <a:latin typeface="Arial"/>
              </a:defRPr>
            </a:pPr>
            <a:r>
              <a:t>• Toma de decisiones fundamentada en mapas georreferenciados y datos reales no manipulables.</a:t>
            </a:r>
          </a:p>
          <a:p>
            <a:pPr>
              <a:spcAft>
                <a:spcPts val="800"/>
              </a:spcAft>
              <a:defRPr sz="1300">
                <a:solidFill>
                  <a:srgbClr val="E2E8F0"/>
                </a:solidFill>
                <a:latin typeface="Arial"/>
              </a:defRPr>
            </a:pPr>
            <a:r>
              <a:t>• Plataforma centralizada con canales de comunicación compartimentados y enlaces directos seguros.</a:t>
            </a:r>
          </a:p>
          <a:p>
            <a:pPr>
              <a:spcAft>
                <a:spcPts val="800"/>
              </a:spcAft>
              <a:defRPr sz="1300">
                <a:solidFill>
                  <a:srgbClr val="E2E8F0"/>
                </a:solidFill>
                <a:latin typeface="Arial"/>
              </a:defRPr>
            </a:pPr>
            <a:r>
              <a:t>• Soberanía tecnológica: las bases de datos pertenecen al partido en un servidor privado exclusivo.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38BDF8"/>
                </a:solidFill>
                <a:latin typeface="Arial"/>
              </a:defRPr>
            </a:pPr>
            <a:r>
              <a:t>MIGATO • EQUIPO TÉCNICO DE SISTEMAS</a:t>
            </a:r>
          </a:p>
        </p:txBody>
      </p:sp>
      <p:sp>
        <p:nvSpPr>
          <p:cNvPr id="4" name="TextBox 3"/>
          <p:cNvSpPr txBox="1"/>
          <p:nvPr/>
        </p:nvSpPr>
        <p:spPr>
          <a:xfrm>
            <a:off x="731520" y="685800"/>
            <a:ext cx="9601200" cy="731520"/>
          </a:xfrm>
          <a:prstGeom prst="rect">
            <a:avLst/>
          </a:prstGeom>
          <a:noFill/>
        </p:spPr>
        <p:txBody>
          <a:bodyPr wrap="square">
            <a:spAutoFit/>
          </a:bodyPr>
          <a:lstStyle/>
          <a:p>
            <a:pPr>
              <a:defRPr sz="2400" b="1">
                <a:solidFill>
                  <a:srgbClr val="FFFFFF"/>
                </a:solidFill>
                <a:latin typeface="Arial"/>
              </a:defRPr>
            </a:pPr>
            <a:r>
              <a:t>La Solución: Plataforma Territorial MIGATO en 5 Módulos</a:t>
            </a:r>
          </a:p>
        </p:txBody>
      </p:sp>
      <p:pic>
        <p:nvPicPr>
          <p:cNvPr id="5" name="Picture 4" descr="logo-migato.png"/>
          <p:cNvPicPr>
            <a:picLocks noChangeAspect="1"/>
          </p:cNvPicPr>
          <p:nvPr/>
        </p:nvPicPr>
        <p:blipFill>
          <a:blip r:embed="rId2"/>
          <a:stretch>
            <a:fillRect/>
          </a:stretch>
        </p:blipFill>
        <p:spPr>
          <a:xfrm>
            <a:off x="10789920" y="365760"/>
            <a:ext cx="731520" cy="731520"/>
          </a:xfrm>
          <a:prstGeom prst="rect">
            <a:avLst/>
          </a:prstGeom>
        </p:spPr>
      </p:pic>
      <p:sp>
        <p:nvSpPr>
          <p:cNvPr id="6" name="Rectangle 5"/>
          <p:cNvSpPr/>
          <p:nvPr/>
        </p:nvSpPr>
        <p:spPr>
          <a:xfrm>
            <a:off x="731520" y="14630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10728655" cy="804672"/>
          </a:xfrm>
          <a:prstGeom prst="roundRect">
            <a:avLst/>
          </a:prstGeom>
          <a:solidFill>
            <a:srgbClr val="1E293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19072"/>
            <a:ext cx="10332720" cy="658368"/>
          </a:xfrm>
          <a:prstGeom prst="rect">
            <a:avLst/>
          </a:prstGeom>
          <a:noFill/>
        </p:spPr>
        <p:txBody>
          <a:bodyPr wrap="square">
            <a:spAutoFit/>
          </a:bodyPr>
          <a:lstStyle/>
          <a:p>
            <a:pPr>
              <a:defRPr sz="1400" b="1">
                <a:solidFill>
                  <a:srgbClr val="0284C7"/>
                </a:solidFill>
                <a:latin typeface="Arial"/>
              </a:defRPr>
            </a:pPr>
            <a:r>
              <a:t>Módulo 1: Despacho Celular  </a:t>
            </a:r>
          </a:p>
          <a:p>
            <a:pPr>
              <a:defRPr sz="1150">
                <a:solidFill>
                  <a:srgbClr val="E2E8F0"/>
                </a:solidFill>
                <a:latin typeface="Arial"/>
              </a:defRPr>
            </a:pPr>
            <a:r>
              <a:t>Ruta: /despacho/ • Enlaces por token web único directo al teléfono del coordinador parroquial. Cero contraseñas complicadas y compartimentación geográfica.</a:t>
            </a:r>
          </a:p>
        </p:txBody>
      </p:sp>
      <p:sp>
        <p:nvSpPr>
          <p:cNvPr id="9" name="Rounded Rectangle 8"/>
          <p:cNvSpPr/>
          <p:nvPr/>
        </p:nvSpPr>
        <p:spPr>
          <a:xfrm>
            <a:off x="731520" y="2542032"/>
            <a:ext cx="10728655" cy="804672"/>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15184"/>
            <a:ext cx="10332720" cy="658368"/>
          </a:xfrm>
          <a:prstGeom prst="rect">
            <a:avLst/>
          </a:prstGeom>
          <a:noFill/>
        </p:spPr>
        <p:txBody>
          <a:bodyPr wrap="square">
            <a:spAutoFit/>
          </a:bodyPr>
          <a:lstStyle/>
          <a:p>
            <a:pPr>
              <a:defRPr sz="1400" b="1">
                <a:solidFill>
                  <a:srgbClr val="38BDF8"/>
                </a:solidFill>
                <a:latin typeface="Arial"/>
              </a:defRPr>
            </a:pPr>
            <a:r>
              <a:t>Módulo 2: Censo Comunitario  </a:t>
            </a:r>
          </a:p>
          <a:p>
            <a:pPr>
              <a:defRPr sz="1150">
                <a:solidFill>
                  <a:srgbClr val="E2E8F0"/>
                </a:solidFill>
                <a:latin typeface="Arial"/>
              </a:defRPr>
            </a:pPr>
            <a:r>
              <a:t>Ruta: /carga/ • Protocolo 'Buzón Ciego': no guarda datos personales ni cédulas. Al enviar se borra del teléfono (Zero-Byte Storage).</a:t>
            </a:r>
          </a:p>
        </p:txBody>
      </p:sp>
      <p:sp>
        <p:nvSpPr>
          <p:cNvPr id="11" name="Rounded Rectangle 10"/>
          <p:cNvSpPr/>
          <p:nvPr/>
        </p:nvSpPr>
        <p:spPr>
          <a:xfrm>
            <a:off x="731520" y="3438144"/>
            <a:ext cx="10728655" cy="804672"/>
          </a:xfrm>
          <a:prstGeom prst="roundRect">
            <a:avLst/>
          </a:prstGeom>
          <a:solidFill>
            <a:srgbClr val="1E293B"/>
          </a:solidFill>
          <a:ln>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511296"/>
            <a:ext cx="10332720" cy="658368"/>
          </a:xfrm>
          <a:prstGeom prst="rect">
            <a:avLst/>
          </a:prstGeom>
          <a:noFill/>
        </p:spPr>
        <p:txBody>
          <a:bodyPr wrap="square">
            <a:spAutoFit/>
          </a:bodyPr>
          <a:lstStyle/>
          <a:p>
            <a:pPr>
              <a:defRPr sz="1400" b="1">
                <a:solidFill>
                  <a:srgbClr val="4ADE80"/>
                </a:solidFill>
                <a:latin typeface="Arial"/>
              </a:defRPr>
            </a:pPr>
            <a:r>
              <a:t>Módulo 3: Padrón y Actas  </a:t>
            </a:r>
          </a:p>
          <a:p>
            <a:pPr>
              <a:defRPr sz="1150">
                <a:solidFill>
                  <a:srgbClr val="E2E8F0"/>
                </a:solidFill>
                <a:latin typeface="Arial"/>
              </a:defRPr>
            </a:pPr>
            <a:r>
              <a:t>Ruta: /centros-maturin/ • 175 centros y 361 mesas de Maturín. Asignación de testigos y resguardo fotográfico de actas y código QR para cotejo interno.</a:t>
            </a:r>
          </a:p>
        </p:txBody>
      </p:sp>
      <p:sp>
        <p:nvSpPr>
          <p:cNvPr id="13" name="Rounded Rectangle 12"/>
          <p:cNvSpPr/>
          <p:nvPr/>
        </p:nvSpPr>
        <p:spPr>
          <a:xfrm>
            <a:off x="731520" y="4334256"/>
            <a:ext cx="10728655" cy="804672"/>
          </a:xfrm>
          <a:prstGeom prst="roundRect">
            <a:avLst/>
          </a:prstGeom>
          <a:solidFill>
            <a:srgbClr val="1E293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07408"/>
            <a:ext cx="10332720" cy="658368"/>
          </a:xfrm>
          <a:prstGeom prst="rect">
            <a:avLst/>
          </a:prstGeom>
          <a:noFill/>
        </p:spPr>
        <p:txBody>
          <a:bodyPr wrap="square">
            <a:spAutoFit/>
          </a:bodyPr>
          <a:lstStyle/>
          <a:p>
            <a:pPr>
              <a:defRPr sz="1400" b="1">
                <a:solidFill>
                  <a:srgbClr val="0284C7"/>
                </a:solidFill>
                <a:latin typeface="Arial"/>
              </a:defRPr>
            </a:pPr>
            <a:r>
              <a:t>Módulo 4: Cartografía 3D  </a:t>
            </a:r>
          </a:p>
          <a:p>
            <a:pPr>
              <a:defRPr sz="1150">
                <a:solidFill>
                  <a:srgbClr val="E2E8F0"/>
                </a:solidFill>
                <a:latin typeface="Arial"/>
              </a:defRPr>
            </a:pPr>
            <a:r>
              <a:t>Ruta: /earth-monagas/ • Consola 3D de vialidad, relieve y servicios, con filtro de focalización territorial para resaltar el área analizada.</a:t>
            </a:r>
          </a:p>
        </p:txBody>
      </p:sp>
      <p:sp>
        <p:nvSpPr>
          <p:cNvPr id="15" name="Rounded Rectangle 14"/>
          <p:cNvSpPr/>
          <p:nvPr/>
        </p:nvSpPr>
        <p:spPr>
          <a:xfrm>
            <a:off x="731520" y="5230368"/>
            <a:ext cx="10728655" cy="804672"/>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03520"/>
            <a:ext cx="10332720" cy="658368"/>
          </a:xfrm>
          <a:prstGeom prst="rect">
            <a:avLst/>
          </a:prstGeom>
          <a:noFill/>
        </p:spPr>
        <p:txBody>
          <a:bodyPr wrap="square">
            <a:spAutoFit/>
          </a:bodyPr>
          <a:lstStyle/>
          <a:p>
            <a:pPr>
              <a:defRPr sz="1400" b="1">
                <a:solidFill>
                  <a:srgbClr val="38BDF8"/>
                </a:solidFill>
                <a:latin typeface="Arial"/>
              </a:defRPr>
            </a:pPr>
            <a:r>
              <a:t>Módulo 5: Red de Salud  </a:t>
            </a:r>
          </a:p>
          <a:p>
            <a:pPr>
              <a:defRPr sz="1150">
                <a:solidFill>
                  <a:srgbClr val="E2E8F0"/>
                </a:solidFill>
                <a:latin typeface="Arial"/>
              </a:defRPr>
            </a:pPr>
            <a:r>
              <a:t>Ruta: /salud-monagas/ • Auditoría en tiempo real de 84 centros asistenciales: plantas eléctricas, agua, quirófanos y rutas de derivación médica.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38BDF8"/>
                </a:solidFill>
                <a:latin typeface="Arial"/>
              </a:defRPr>
            </a:pPr>
            <a:r>
              <a:t>MIGATO • EQUIPO TÉCNICO DE SISTEMAS</a:t>
            </a:r>
          </a:p>
        </p:txBody>
      </p:sp>
      <p:sp>
        <p:nvSpPr>
          <p:cNvPr id="4" name="TextBox 3"/>
          <p:cNvSpPr txBox="1"/>
          <p:nvPr/>
        </p:nvSpPr>
        <p:spPr>
          <a:xfrm>
            <a:off x="731520" y="685800"/>
            <a:ext cx="9601200" cy="731520"/>
          </a:xfrm>
          <a:prstGeom prst="rect">
            <a:avLst/>
          </a:prstGeom>
          <a:noFill/>
        </p:spPr>
        <p:txBody>
          <a:bodyPr wrap="square">
            <a:spAutoFit/>
          </a:bodyPr>
          <a:lstStyle/>
          <a:p>
            <a:pPr>
              <a:defRPr sz="2400" b="1">
                <a:solidFill>
                  <a:srgbClr val="FFFFFF"/>
                </a:solidFill>
                <a:latin typeface="Arial"/>
              </a:defRPr>
            </a:pPr>
            <a:r>
              <a:t>Módulos 1 y 2: Coordinación Parroquial y Censo Protegido</a:t>
            </a:r>
          </a:p>
        </p:txBody>
      </p:sp>
      <p:pic>
        <p:nvPicPr>
          <p:cNvPr id="5" name="Picture 4" descr="logo-migato.png"/>
          <p:cNvPicPr>
            <a:picLocks noChangeAspect="1"/>
          </p:cNvPicPr>
          <p:nvPr/>
        </p:nvPicPr>
        <p:blipFill>
          <a:blip r:embed="rId2"/>
          <a:stretch>
            <a:fillRect/>
          </a:stretch>
        </p:blipFill>
        <p:spPr>
          <a:xfrm>
            <a:off x="10789920" y="365760"/>
            <a:ext cx="731520" cy="731520"/>
          </a:xfrm>
          <a:prstGeom prst="rect">
            <a:avLst/>
          </a:prstGeom>
        </p:spPr>
      </p:pic>
      <p:sp>
        <p:nvSpPr>
          <p:cNvPr id="6" name="Rectangle 5"/>
          <p:cNvSpPr/>
          <p:nvPr/>
        </p:nvSpPr>
        <p:spPr>
          <a:xfrm>
            <a:off x="731520" y="14630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5120640" cy="4389120"/>
          </a:xfrm>
          <a:prstGeom prst="roundRect">
            <a:avLst/>
          </a:prstGeom>
          <a:solidFill>
            <a:srgbClr val="1E293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4572000" cy="4023360"/>
          </a:xfrm>
          <a:prstGeom prst="rect">
            <a:avLst/>
          </a:prstGeom>
          <a:noFill/>
        </p:spPr>
        <p:txBody>
          <a:bodyPr wrap="square">
            <a:spAutoFit/>
          </a:bodyPr>
          <a:lstStyle/>
          <a:p>
            <a:pPr>
              <a:spcAft>
                <a:spcPts val="1200"/>
              </a:spcAft>
              <a:defRPr sz="1600" b="1">
                <a:solidFill>
                  <a:srgbClr val="38BDF8"/>
                </a:solidFill>
                <a:latin typeface="Arial"/>
              </a:defRPr>
            </a:pPr>
            <a:r>
              <a:t>📲 Módulo 1: Despacho Celular Seguro</a:t>
            </a:r>
          </a:p>
          <a:p>
            <a:pPr>
              <a:spcAft>
                <a:spcPts val="800"/>
              </a:spcAft>
              <a:defRPr sz="1250">
                <a:solidFill>
                  <a:srgbClr val="E2E8F0"/>
                </a:solidFill>
                <a:latin typeface="Arial"/>
              </a:defRPr>
            </a:pPr>
            <a:r>
              <a:t>• Token Web Efímero: El operador central envía un link único por WhatsApp o SMS. El coordinador hace clic y entra directo sin memorizar claves.</a:t>
            </a:r>
          </a:p>
          <a:p>
            <a:pPr>
              <a:spcAft>
                <a:spcPts val="800"/>
              </a:spcAft>
              <a:defRPr sz="1250">
                <a:solidFill>
                  <a:srgbClr val="E2E8F0"/>
                </a:solidFill>
                <a:latin typeface="Arial"/>
              </a:defRPr>
            </a:pPr>
            <a:r>
              <a:t>• Compartimentación: El líder de Las Cocuizas solo ve Las Cocuizas; no tiene acceso al resto del estado.</a:t>
            </a:r>
          </a:p>
          <a:p>
            <a:pPr>
              <a:spcAft>
                <a:spcPts val="800"/>
              </a:spcAft>
              <a:defRPr sz="1250">
                <a:solidFill>
                  <a:srgbClr val="E2E8F0"/>
                </a:solidFill>
                <a:latin typeface="Arial"/>
              </a:defRPr>
            </a:pPr>
            <a:r>
              <a:t>• Revocación en 1 Segundo: Si un coordinador es relevado, se desactiva su token desde la Sala de Mando sin afectar el resto del sistema.</a:t>
            </a:r>
          </a:p>
          <a:p>
            <a:pPr>
              <a:spcAft>
                <a:spcPts val="800"/>
              </a:spcAft>
              <a:defRPr sz="1250">
                <a:solidFill>
                  <a:srgbClr val="E2E8F0"/>
                </a:solidFill>
                <a:latin typeface="Arial"/>
              </a:defRPr>
            </a:pPr>
            <a:r>
              <a:t>• Sin Apps Pesadas: Funciona 100% en el navegador de cualquier teléfono inteligente.</a:t>
            </a:r>
          </a:p>
        </p:txBody>
      </p:sp>
      <p:sp>
        <p:nvSpPr>
          <p:cNvPr id="9" name="Rounded Rectangle 8"/>
          <p:cNvSpPr/>
          <p:nvPr/>
        </p:nvSpPr>
        <p:spPr>
          <a:xfrm>
            <a:off x="6217920" y="1737360"/>
            <a:ext cx="5212080" cy="4389120"/>
          </a:xfrm>
          <a:prstGeom prst="roundRect">
            <a:avLst/>
          </a:prstGeom>
          <a:solidFill>
            <a:srgbClr val="1E293B"/>
          </a:solidFill>
          <a:ln>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20240"/>
            <a:ext cx="4663440" cy="4023360"/>
          </a:xfrm>
          <a:prstGeom prst="rect">
            <a:avLst/>
          </a:prstGeom>
          <a:noFill/>
        </p:spPr>
        <p:txBody>
          <a:bodyPr wrap="square">
            <a:spAutoFit/>
          </a:bodyPr>
          <a:lstStyle/>
          <a:p>
            <a:pPr>
              <a:spcAft>
                <a:spcPts val="1200"/>
              </a:spcAft>
              <a:defRPr sz="1600" b="1">
                <a:solidFill>
                  <a:srgbClr val="4ADE80"/>
                </a:solidFill>
                <a:latin typeface="Arial"/>
              </a:defRPr>
            </a:pPr>
            <a:r>
              <a:t>🛡️ Módulo 2: Censo Territorial 'Buzón Ciego'</a:t>
            </a:r>
          </a:p>
          <a:p>
            <a:pPr>
              <a:spcAft>
                <a:spcPts val="800"/>
              </a:spcAft>
              <a:defRPr sz="1250">
                <a:solidFill>
                  <a:srgbClr val="E2E8F0"/>
                </a:solidFill>
                <a:latin typeface="Arial"/>
              </a:defRPr>
            </a:pPr>
            <a:r>
              <a:t>• Protección de la Ciudadanía: Por principio institucional, NO se solicitan nombres, cédulas ni números de teléfono de los vecinos.</a:t>
            </a:r>
          </a:p>
          <a:p>
            <a:pPr>
              <a:spcAft>
                <a:spcPts val="800"/>
              </a:spcAft>
              <a:defRPr sz="1250">
                <a:solidFill>
                  <a:srgbClr val="E2E8F0"/>
                </a:solidFill>
                <a:latin typeface="Arial"/>
              </a:defRPr>
            </a:pPr>
            <a:r>
              <a:t>• Datos Numéricos y Servicios: Registra familias, viviendas, estimación de fuerza y fallas críticas de luz, agua y vialidad.</a:t>
            </a:r>
          </a:p>
          <a:p>
            <a:pPr>
              <a:spcAft>
                <a:spcPts val="800"/>
              </a:spcAft>
              <a:defRPr sz="1250">
                <a:solidFill>
                  <a:srgbClr val="E2E8F0"/>
                </a:solidFill>
                <a:latin typeface="Arial"/>
              </a:defRPr>
            </a:pPr>
            <a:r>
              <a:t>• Protocolo Zero-Byte Storage: Al pulsar 'Enviar', los datos viajan encriptados por HTTPS al servidor y la pantalla se reinicia a cero.</a:t>
            </a:r>
          </a:p>
          <a:p>
            <a:pPr>
              <a:spcAft>
                <a:spcPts val="800"/>
              </a:spcAft>
              <a:defRPr sz="1250">
                <a:solidFill>
                  <a:srgbClr val="E2E8F0"/>
                </a:solidFill>
                <a:latin typeface="Arial"/>
              </a:defRPr>
            </a:pPr>
            <a:r>
              <a:t>• Dispositivo Limpio: En el teléfono no queda caché, historial ni borradores. Tranquilidad total ante revisiones en alcabalas.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38BDF8"/>
                </a:solidFill>
                <a:latin typeface="Arial"/>
              </a:defRPr>
            </a:pPr>
            <a:r>
              <a:t>MIGATO • EQUIPO TÉCNICO DE SISTEMAS</a:t>
            </a:r>
          </a:p>
        </p:txBody>
      </p:sp>
      <p:sp>
        <p:nvSpPr>
          <p:cNvPr id="4" name="TextBox 3"/>
          <p:cNvSpPr txBox="1"/>
          <p:nvPr/>
        </p:nvSpPr>
        <p:spPr>
          <a:xfrm>
            <a:off x="731520" y="685800"/>
            <a:ext cx="9601200" cy="731520"/>
          </a:xfrm>
          <a:prstGeom prst="rect">
            <a:avLst/>
          </a:prstGeom>
          <a:noFill/>
        </p:spPr>
        <p:txBody>
          <a:bodyPr wrap="square">
            <a:spAutoFit/>
          </a:bodyPr>
          <a:lstStyle/>
          <a:p>
            <a:pPr>
              <a:defRPr sz="2400" b="1">
                <a:solidFill>
                  <a:srgbClr val="FFFFFF"/>
                </a:solidFill>
                <a:latin typeface="Arial"/>
              </a:defRPr>
            </a:pPr>
            <a:r>
              <a:t>Módulo 3: Padrón Electoral, Centros de Votación y Resguardo de Actas</a:t>
            </a:r>
          </a:p>
        </p:txBody>
      </p:sp>
      <p:pic>
        <p:nvPicPr>
          <p:cNvPr id="5" name="Picture 4" descr="logo-migato.png"/>
          <p:cNvPicPr>
            <a:picLocks noChangeAspect="1"/>
          </p:cNvPicPr>
          <p:nvPr/>
        </p:nvPicPr>
        <p:blipFill>
          <a:blip r:embed="rId2"/>
          <a:stretch>
            <a:fillRect/>
          </a:stretch>
        </p:blipFill>
        <p:spPr>
          <a:xfrm>
            <a:off x="10789920" y="365760"/>
            <a:ext cx="731520" cy="731520"/>
          </a:xfrm>
          <a:prstGeom prst="rect">
            <a:avLst/>
          </a:prstGeom>
        </p:spPr>
      </p:pic>
      <p:sp>
        <p:nvSpPr>
          <p:cNvPr id="6" name="Rectangle 5"/>
          <p:cNvSpPr/>
          <p:nvPr/>
        </p:nvSpPr>
        <p:spPr>
          <a:xfrm>
            <a:off x="731520" y="14630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3413455" cy="4389120"/>
          </a:xfrm>
          <a:prstGeom prst="roundRect">
            <a:avLst/>
          </a:prstGeom>
          <a:solidFill>
            <a:srgbClr val="1E293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3047695" cy="4023360"/>
          </a:xfrm>
          <a:prstGeom prst="rect">
            <a:avLst/>
          </a:prstGeom>
          <a:noFill/>
        </p:spPr>
        <p:txBody>
          <a:bodyPr wrap="square">
            <a:spAutoFit/>
          </a:bodyPr>
          <a:lstStyle/>
          <a:p>
            <a:pPr>
              <a:spcAft>
                <a:spcPts val="1200"/>
              </a:spcAft>
              <a:defRPr sz="1500" b="1">
                <a:solidFill>
                  <a:srgbClr val="0284C7"/>
                </a:solidFill>
                <a:latin typeface="Arial"/>
              </a:defRPr>
            </a:pPr>
            <a:r>
              <a:t>🗺️ 175 Centros y 361 Mesas</a:t>
            </a:r>
          </a:p>
          <a:p>
            <a:pPr>
              <a:spcAft>
                <a:spcPts val="800"/>
              </a:spcAft>
              <a:defRPr sz="1200">
                <a:solidFill>
                  <a:srgbClr val="E2E8F0"/>
                </a:solidFill>
                <a:latin typeface="Arial"/>
              </a:defRPr>
            </a:pPr>
            <a:r>
              <a:t>• Mapeo geoespacial completo del Municipio Maturín.</a:t>
            </a:r>
          </a:p>
          <a:p>
            <a:pPr>
              <a:spcAft>
                <a:spcPts val="800"/>
              </a:spcAft>
              <a:defRPr sz="1200">
                <a:solidFill>
                  <a:srgbClr val="E2E8F0"/>
                </a:solidFill>
                <a:latin typeface="Arial"/>
              </a:defRPr>
            </a:pPr>
            <a:r>
              <a:t>• Priorización matemática de los 40 centros que concentran más del 60% del padrón electoral.</a:t>
            </a:r>
          </a:p>
          <a:p>
            <a:pPr>
              <a:spcAft>
                <a:spcPts val="800"/>
              </a:spcAft>
              <a:defRPr sz="1200">
                <a:solidFill>
                  <a:srgbClr val="E2E8F0"/>
                </a:solidFill>
                <a:latin typeface="Arial"/>
              </a:defRPr>
            </a:pPr>
            <a:r>
              <a:t>• Ubicación satelital y rutas de acceso para movilización el día de la votación.</a:t>
            </a:r>
          </a:p>
        </p:txBody>
      </p:sp>
      <p:sp>
        <p:nvSpPr>
          <p:cNvPr id="9" name="Rounded Rectangle 8"/>
          <p:cNvSpPr/>
          <p:nvPr/>
        </p:nvSpPr>
        <p:spPr>
          <a:xfrm>
            <a:off x="4389120" y="1737360"/>
            <a:ext cx="3413455" cy="438912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920240"/>
            <a:ext cx="3047695" cy="4023360"/>
          </a:xfrm>
          <a:prstGeom prst="rect">
            <a:avLst/>
          </a:prstGeom>
          <a:noFill/>
        </p:spPr>
        <p:txBody>
          <a:bodyPr wrap="square">
            <a:spAutoFit/>
          </a:bodyPr>
          <a:lstStyle/>
          <a:p>
            <a:pPr>
              <a:spcAft>
                <a:spcPts val="1200"/>
              </a:spcAft>
              <a:defRPr sz="1500" b="1">
                <a:solidFill>
                  <a:srgbClr val="38BDF8"/>
                </a:solidFill>
                <a:latin typeface="Arial"/>
              </a:defRPr>
            </a:pPr>
            <a:r>
              <a:t>👥 Organización de Testigos</a:t>
            </a:r>
          </a:p>
          <a:p>
            <a:pPr>
              <a:spcAft>
                <a:spcPts val="800"/>
              </a:spcAft>
              <a:defRPr sz="1200">
                <a:solidFill>
                  <a:srgbClr val="E2E8F0"/>
                </a:solidFill>
                <a:latin typeface="Arial"/>
              </a:defRPr>
            </a:pPr>
            <a:r>
              <a:t>• Registro ordenado del testigo principal y suplente por cada mesa electoral.</a:t>
            </a:r>
          </a:p>
          <a:p>
            <a:pPr>
              <a:spcAft>
                <a:spcPts val="800"/>
              </a:spcAft>
              <a:defRPr sz="1200">
                <a:solidFill>
                  <a:srgbClr val="E2E8F0"/>
                </a:solidFill>
                <a:latin typeface="Arial"/>
              </a:defRPr>
            </a:pPr>
            <a:r>
              <a:t>• Segmentación de acompañamiento ciudadano a votantes de tercera edad y jóvenes.</a:t>
            </a:r>
          </a:p>
          <a:p>
            <a:pPr>
              <a:spcAft>
                <a:spcPts val="800"/>
              </a:spcAft>
              <a:defRPr sz="1200">
                <a:solidFill>
                  <a:srgbClr val="E2E8F0"/>
                </a:solidFill>
                <a:latin typeface="Arial"/>
              </a:defRPr>
            </a:pPr>
            <a:r>
              <a:t>• Reporte de incidencias y apertura de mesas en tiempo real.</a:t>
            </a:r>
          </a:p>
        </p:txBody>
      </p:sp>
      <p:sp>
        <p:nvSpPr>
          <p:cNvPr id="11" name="Rounded Rectangle 10"/>
          <p:cNvSpPr/>
          <p:nvPr/>
        </p:nvSpPr>
        <p:spPr>
          <a:xfrm>
            <a:off x="8046720" y="1737360"/>
            <a:ext cx="3413455" cy="4389120"/>
          </a:xfrm>
          <a:prstGeom prst="roundRect">
            <a:avLst/>
          </a:prstGeom>
          <a:solidFill>
            <a:srgbClr val="1E293B"/>
          </a:solidFill>
          <a:ln>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920240"/>
            <a:ext cx="3047695" cy="4023360"/>
          </a:xfrm>
          <a:prstGeom prst="rect">
            <a:avLst/>
          </a:prstGeom>
          <a:noFill/>
        </p:spPr>
        <p:txBody>
          <a:bodyPr wrap="square">
            <a:spAutoFit/>
          </a:bodyPr>
          <a:lstStyle/>
          <a:p>
            <a:pPr>
              <a:spcAft>
                <a:spcPts val="1200"/>
              </a:spcAft>
              <a:defRPr sz="1500" b="1">
                <a:solidFill>
                  <a:srgbClr val="4ADE80"/>
                </a:solidFill>
                <a:latin typeface="Arial"/>
              </a:defRPr>
            </a:pPr>
            <a:r>
              <a:t>📸 Archivo de Actas y Código QR</a:t>
            </a:r>
          </a:p>
          <a:p>
            <a:pPr>
              <a:spcAft>
                <a:spcPts val="800"/>
              </a:spcAft>
              <a:defRPr sz="1200">
                <a:solidFill>
                  <a:srgbClr val="E2E8F0"/>
                </a:solidFill>
                <a:latin typeface="Arial"/>
              </a:defRPr>
            </a:pPr>
            <a:r>
              <a:t>• Carga de resultados mesa por mesa por parte del testigo acreditado.</a:t>
            </a:r>
          </a:p>
          <a:p>
            <a:pPr>
              <a:spcAft>
                <a:spcPts val="800"/>
              </a:spcAft>
              <a:defRPr sz="1200">
                <a:solidFill>
                  <a:srgbClr val="E2E8F0"/>
                </a:solidFill>
                <a:latin typeface="Arial"/>
              </a:defRPr>
            </a:pPr>
            <a:r>
              <a:t>• Almacenamiento fotográfico en alta resolución del acta física y comprobante oficial.</a:t>
            </a:r>
          </a:p>
          <a:p>
            <a:pPr>
              <a:spcAft>
                <a:spcPts val="800"/>
              </a:spcAft>
              <a:defRPr sz="1200">
                <a:solidFill>
                  <a:srgbClr val="E2E8F0"/>
                </a:solidFill>
                <a:latin typeface="Arial"/>
              </a:defRPr>
            </a:pPr>
            <a:r>
              <a:t>• Captura del código QR del acta para cotejo y auditoría interna de la organización.</a:t>
            </a:r>
          </a:p>
          <a:p>
            <a:pPr>
              <a:spcAft>
                <a:spcPts val="800"/>
              </a:spcAft>
              <a:defRPr sz="1200">
                <a:solidFill>
                  <a:srgbClr val="E2E8F0"/>
                </a:solidFill>
                <a:latin typeface="Arial"/>
              </a:defRPr>
            </a:pPr>
            <a:r>
              <a:t>• Sin intervenir ni suplantar atribuciones del CNE.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38BDF8"/>
                </a:solidFill>
                <a:latin typeface="Arial"/>
              </a:defRPr>
            </a:pPr>
            <a:r>
              <a:t>MIGATO • EQUIPO TÉCNICO DE SISTEMAS</a:t>
            </a:r>
          </a:p>
        </p:txBody>
      </p:sp>
      <p:sp>
        <p:nvSpPr>
          <p:cNvPr id="4" name="TextBox 3"/>
          <p:cNvSpPr txBox="1"/>
          <p:nvPr/>
        </p:nvSpPr>
        <p:spPr>
          <a:xfrm>
            <a:off x="731520" y="685800"/>
            <a:ext cx="9601200" cy="731520"/>
          </a:xfrm>
          <a:prstGeom prst="rect">
            <a:avLst/>
          </a:prstGeom>
          <a:noFill/>
        </p:spPr>
        <p:txBody>
          <a:bodyPr wrap="square">
            <a:spAutoFit/>
          </a:bodyPr>
          <a:lstStyle/>
          <a:p>
            <a:pPr>
              <a:defRPr sz="2400" b="1">
                <a:solidFill>
                  <a:srgbClr val="FFFFFF"/>
                </a:solidFill>
                <a:latin typeface="Arial"/>
              </a:defRPr>
            </a:pPr>
            <a:r>
              <a:t>Módulos 4 y 5: Cartografía Tridimensional y Red Asistencial de Salud</a:t>
            </a:r>
          </a:p>
        </p:txBody>
      </p:sp>
      <p:pic>
        <p:nvPicPr>
          <p:cNvPr id="5" name="Picture 4" descr="logo-migato.png"/>
          <p:cNvPicPr>
            <a:picLocks noChangeAspect="1"/>
          </p:cNvPicPr>
          <p:nvPr/>
        </p:nvPicPr>
        <p:blipFill>
          <a:blip r:embed="rId2"/>
          <a:stretch>
            <a:fillRect/>
          </a:stretch>
        </p:blipFill>
        <p:spPr>
          <a:xfrm>
            <a:off x="10789920" y="365760"/>
            <a:ext cx="731520" cy="731520"/>
          </a:xfrm>
          <a:prstGeom prst="rect">
            <a:avLst/>
          </a:prstGeom>
        </p:spPr>
      </p:pic>
      <p:sp>
        <p:nvSpPr>
          <p:cNvPr id="6" name="Rectangle 5"/>
          <p:cNvSpPr/>
          <p:nvPr/>
        </p:nvSpPr>
        <p:spPr>
          <a:xfrm>
            <a:off x="731520" y="14630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5120640" cy="4389120"/>
          </a:xfrm>
          <a:prstGeom prst="roundRect">
            <a:avLst/>
          </a:prstGeom>
          <a:solidFill>
            <a:srgbClr val="1E293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4572000" cy="4023360"/>
          </a:xfrm>
          <a:prstGeom prst="rect">
            <a:avLst/>
          </a:prstGeom>
          <a:noFill/>
        </p:spPr>
        <p:txBody>
          <a:bodyPr wrap="square">
            <a:spAutoFit/>
          </a:bodyPr>
          <a:lstStyle/>
          <a:p>
            <a:pPr>
              <a:spcAft>
                <a:spcPts val="1200"/>
              </a:spcAft>
              <a:defRPr sz="1600" b="1">
                <a:solidFill>
                  <a:srgbClr val="38BDF8"/>
                </a:solidFill>
                <a:latin typeface="Arial"/>
              </a:defRPr>
            </a:pPr>
            <a:r>
              <a:t>🌐 Módulo 4: Cartografía 3D de Infraestructura</a:t>
            </a:r>
          </a:p>
          <a:p>
            <a:pPr>
              <a:spcAft>
                <a:spcPts val="800"/>
              </a:spcAft>
              <a:defRPr sz="1250">
                <a:solidFill>
                  <a:srgbClr val="E2E8F0"/>
                </a:solidFill>
                <a:latin typeface="Arial"/>
              </a:defRPr>
            </a:pPr>
            <a:r>
              <a:t>• Visualización Geoespacial 3D: Elevaciones topográficas, vialidad, distribución comunitaria y servicios críticos en Monagas.</a:t>
            </a:r>
          </a:p>
          <a:p>
            <a:pPr>
              <a:spcAft>
                <a:spcPts val="800"/>
              </a:spcAft>
              <a:defRPr sz="1250">
                <a:solidFill>
                  <a:srgbClr val="E2E8F0"/>
                </a:solidFill>
                <a:latin typeface="Arial"/>
              </a:defRPr>
            </a:pPr>
            <a:r>
              <a:t>• Filtro de Focalización Territorial: Aplica una atenuación suave sobre la periferia para concentrar la atención en la parroquia o sector bajo análisis.</a:t>
            </a:r>
          </a:p>
          <a:p>
            <a:pPr>
              <a:spcAft>
                <a:spcPts val="800"/>
              </a:spcAft>
              <a:defRPr sz="1250">
                <a:solidFill>
                  <a:srgbClr val="E2E8F0"/>
                </a:solidFill>
                <a:latin typeface="Arial"/>
              </a:defRPr>
            </a:pPr>
            <a:r>
              <a:t>• Planificación Táctica y Logística: Cálculo de distancias reales, tiempos de traslado y rutas óptimas para los equipos de campo.</a:t>
            </a:r>
          </a:p>
          <a:p>
            <a:pPr>
              <a:spcAft>
                <a:spcPts val="800"/>
              </a:spcAft>
              <a:defRPr sz="1250">
                <a:solidFill>
                  <a:srgbClr val="E2E8F0"/>
                </a:solidFill>
                <a:latin typeface="Arial"/>
              </a:defRPr>
            </a:pPr>
            <a:r>
              <a:t>• Uso en Sala de Mando: Ideal para proyectar en pantallas grandes durante reuniones estratégicas de la dirección.</a:t>
            </a:r>
          </a:p>
        </p:txBody>
      </p:sp>
      <p:sp>
        <p:nvSpPr>
          <p:cNvPr id="9" name="Rounded Rectangle 8"/>
          <p:cNvSpPr/>
          <p:nvPr/>
        </p:nvSpPr>
        <p:spPr>
          <a:xfrm>
            <a:off x="6217920" y="1737360"/>
            <a:ext cx="5212080" cy="438912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20240"/>
            <a:ext cx="4663440" cy="4023360"/>
          </a:xfrm>
          <a:prstGeom prst="rect">
            <a:avLst/>
          </a:prstGeom>
          <a:noFill/>
        </p:spPr>
        <p:txBody>
          <a:bodyPr wrap="square">
            <a:spAutoFit/>
          </a:bodyPr>
          <a:lstStyle/>
          <a:p>
            <a:pPr>
              <a:spcAft>
                <a:spcPts val="1200"/>
              </a:spcAft>
              <a:defRPr sz="1600" b="1">
                <a:solidFill>
                  <a:srgbClr val="0284C7"/>
                </a:solidFill>
                <a:latin typeface="Arial"/>
              </a:defRPr>
            </a:pPr>
            <a:r>
              <a:t>🏥 Módulo 5: Diagnóstico y Red de Salud</a:t>
            </a:r>
          </a:p>
          <a:p>
            <a:pPr>
              <a:spcAft>
                <a:spcPts val="800"/>
              </a:spcAft>
              <a:defRPr sz="1250">
                <a:solidFill>
                  <a:srgbClr val="E2E8F0"/>
                </a:solidFill>
                <a:latin typeface="Arial"/>
              </a:defRPr>
            </a:pPr>
            <a:r>
              <a:t>• Censo Sanitario Exhaustivo: Monitoreo técnico de 84 centros asistenciales (Hospital Central, ambulatorios urbanos, rurales y CDI).</a:t>
            </a:r>
          </a:p>
          <a:p>
            <a:pPr>
              <a:spcAft>
                <a:spcPts val="800"/>
              </a:spcAft>
              <a:defRPr sz="1250">
                <a:solidFill>
                  <a:srgbClr val="E2E8F0"/>
                </a:solidFill>
                <a:latin typeface="Arial"/>
              </a:defRPr>
            </a:pPr>
            <a:r>
              <a:t>• Servicios Críticos: Estado real de plantas eléctricas de emergencia, suministro de agua por tubería, quirófanos y salas de parto.</a:t>
            </a:r>
          </a:p>
          <a:p>
            <a:pPr>
              <a:spcAft>
                <a:spcPts val="800"/>
              </a:spcAft>
              <a:defRPr sz="1250">
                <a:solidFill>
                  <a:srgbClr val="E2E8F0"/>
                </a:solidFill>
                <a:latin typeface="Arial"/>
              </a:defRPr>
            </a:pPr>
            <a:r>
              <a:t>• Red de Derivación Médica: Registro de rutas de traslado de pacientes cuando un ambulatorio no tiene capacidad de resolución.</a:t>
            </a:r>
          </a:p>
          <a:p>
            <a:pPr>
              <a:spcAft>
                <a:spcPts val="800"/>
              </a:spcAft>
              <a:defRPr sz="1250">
                <a:solidFill>
                  <a:srgbClr val="E2E8F0"/>
                </a:solidFill>
                <a:latin typeface="Arial"/>
              </a:defRPr>
            </a:pPr>
            <a:r>
              <a:t>• Base para el Plan de Gobierno: Sustento con datos reales de ingeniería para proponer soluciones hospitalarias concretas ante la opinión pública.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38BDF8"/>
                </a:solidFill>
                <a:latin typeface="Arial"/>
              </a:defRPr>
            </a:pPr>
            <a:r>
              <a:t>MIGATO • EQUIPO TÉCNICO DE SISTEMAS</a:t>
            </a:r>
          </a:p>
        </p:txBody>
      </p:sp>
      <p:sp>
        <p:nvSpPr>
          <p:cNvPr id="4" name="TextBox 3"/>
          <p:cNvSpPr txBox="1"/>
          <p:nvPr/>
        </p:nvSpPr>
        <p:spPr>
          <a:xfrm>
            <a:off x="731520" y="685800"/>
            <a:ext cx="9601200" cy="731520"/>
          </a:xfrm>
          <a:prstGeom prst="rect">
            <a:avLst/>
          </a:prstGeom>
          <a:noFill/>
        </p:spPr>
        <p:txBody>
          <a:bodyPr wrap="square">
            <a:spAutoFit/>
          </a:bodyPr>
          <a:lstStyle/>
          <a:p>
            <a:pPr>
              <a:defRPr sz="2400" b="1">
                <a:solidFill>
                  <a:srgbClr val="FFFFFF"/>
                </a:solidFill>
                <a:latin typeface="Arial"/>
              </a:defRPr>
            </a:pPr>
            <a:r>
              <a:t>Seguridad y Blindaje Informático: Soberanía de los Datos</a:t>
            </a:r>
          </a:p>
        </p:txBody>
      </p:sp>
      <p:pic>
        <p:nvPicPr>
          <p:cNvPr id="5" name="Picture 4" descr="logo-migato.png"/>
          <p:cNvPicPr>
            <a:picLocks noChangeAspect="1"/>
          </p:cNvPicPr>
          <p:nvPr/>
        </p:nvPicPr>
        <p:blipFill>
          <a:blip r:embed="rId2"/>
          <a:stretch>
            <a:fillRect/>
          </a:stretch>
        </p:blipFill>
        <p:spPr>
          <a:xfrm>
            <a:off x="10789920" y="365760"/>
            <a:ext cx="731520" cy="731520"/>
          </a:xfrm>
          <a:prstGeom prst="rect">
            <a:avLst/>
          </a:prstGeom>
        </p:spPr>
      </p:pic>
      <p:sp>
        <p:nvSpPr>
          <p:cNvPr id="6" name="Rectangle 5"/>
          <p:cNvSpPr/>
          <p:nvPr/>
        </p:nvSpPr>
        <p:spPr>
          <a:xfrm>
            <a:off x="731520" y="14630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5212080" cy="2011680"/>
          </a:xfrm>
          <a:prstGeom prst="roundRect">
            <a:avLst/>
          </a:prstGeom>
          <a:solidFill>
            <a:srgbClr val="1E293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20240"/>
            <a:ext cx="4754880" cy="1645920"/>
          </a:xfrm>
          <a:prstGeom prst="rect">
            <a:avLst/>
          </a:prstGeom>
          <a:noFill/>
        </p:spPr>
        <p:txBody>
          <a:bodyPr wrap="square">
            <a:spAutoFit/>
          </a:bodyPr>
          <a:lstStyle/>
          <a:p>
            <a:pPr>
              <a:spcAft>
                <a:spcPts val="600"/>
              </a:spcAft>
              <a:defRPr sz="1500" b="1">
                <a:solidFill>
                  <a:srgbClr val="0284C7"/>
                </a:solidFill>
                <a:latin typeface="Arial"/>
              </a:defRPr>
            </a:pPr>
            <a:r>
              <a:t>🔒 Cifrado SSL/TLS 256 bits</a:t>
            </a:r>
          </a:p>
          <a:p>
            <a:pPr>
              <a:defRPr sz="1200">
                <a:solidFill>
                  <a:srgbClr val="E2E8F0"/>
                </a:solidFill>
                <a:latin typeface="Arial"/>
              </a:defRPr>
            </a:pPr>
            <a:r>
              <a:t>Toda la comunicación entre los teléfonos de los coordinadores y el servidor viaja encriptada. Es imposible interceptar la información en redes móviles o puntos WiFi.</a:t>
            </a:r>
          </a:p>
        </p:txBody>
      </p:sp>
      <p:sp>
        <p:nvSpPr>
          <p:cNvPr id="9" name="Rounded Rectangle 8"/>
          <p:cNvSpPr/>
          <p:nvPr/>
        </p:nvSpPr>
        <p:spPr>
          <a:xfrm>
            <a:off x="6217920" y="1737360"/>
            <a:ext cx="5212080" cy="201168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20240"/>
            <a:ext cx="4754880" cy="1645920"/>
          </a:xfrm>
          <a:prstGeom prst="rect">
            <a:avLst/>
          </a:prstGeom>
          <a:noFill/>
        </p:spPr>
        <p:txBody>
          <a:bodyPr wrap="square">
            <a:spAutoFit/>
          </a:bodyPr>
          <a:lstStyle/>
          <a:p>
            <a:pPr>
              <a:spcAft>
                <a:spcPts val="600"/>
              </a:spcAft>
              <a:defRPr sz="1500" b="1">
                <a:solidFill>
                  <a:srgbClr val="38BDF8"/>
                </a:solidFill>
                <a:latin typeface="Arial"/>
              </a:defRPr>
            </a:pPr>
            <a:r>
              <a:t>🛡️ Auditoría de Vulnerabilidades</a:t>
            </a:r>
          </a:p>
          <a:p>
            <a:pPr>
              <a:defRPr sz="1200">
                <a:solidFill>
                  <a:srgbClr val="E2E8F0"/>
                </a:solidFill>
                <a:latin typeface="Arial"/>
              </a:defRPr>
            </a:pPr>
            <a:r>
              <a:t>Cierre estricto de puertos, cortafuegos iptables, protección Fail2ban contra intentos de acceso forzado y acceso al panel restringido a IPs autorizadas.</a:t>
            </a:r>
          </a:p>
        </p:txBody>
      </p:sp>
      <p:sp>
        <p:nvSpPr>
          <p:cNvPr id="11" name="Rounded Rectangle 10"/>
          <p:cNvSpPr/>
          <p:nvPr/>
        </p:nvSpPr>
        <p:spPr>
          <a:xfrm>
            <a:off x="731520" y="4023360"/>
            <a:ext cx="5212080" cy="2011680"/>
          </a:xfrm>
          <a:prstGeom prst="roundRect">
            <a:avLst/>
          </a:prstGeom>
          <a:solidFill>
            <a:srgbClr val="1E293B"/>
          </a:solidFill>
          <a:ln>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06240"/>
            <a:ext cx="4754880" cy="1645920"/>
          </a:xfrm>
          <a:prstGeom prst="rect">
            <a:avLst/>
          </a:prstGeom>
          <a:noFill/>
        </p:spPr>
        <p:txBody>
          <a:bodyPr wrap="square">
            <a:spAutoFit/>
          </a:bodyPr>
          <a:lstStyle/>
          <a:p>
            <a:pPr>
              <a:spcAft>
                <a:spcPts val="600"/>
              </a:spcAft>
              <a:defRPr sz="1500" b="1">
                <a:solidFill>
                  <a:srgbClr val="4ADE80"/>
                </a:solidFill>
                <a:latin typeface="Arial"/>
              </a:defRPr>
            </a:pPr>
            <a:r>
              <a:t>⚡ Pruebas de Estrés y Concurrencia</a:t>
            </a:r>
          </a:p>
          <a:p>
            <a:pPr>
              <a:defRPr sz="1200">
                <a:solidFill>
                  <a:srgbClr val="E2E8F0"/>
                </a:solidFill>
                <a:latin typeface="Arial"/>
              </a:defRPr>
            </a:pPr>
            <a:r>
              <a:t>Simulaciones de alta carga para garantizar que el servidor responda en menos de 1 segundo incluso durante las horas más intensas del día electoral.</a:t>
            </a:r>
          </a:p>
        </p:txBody>
      </p:sp>
      <p:sp>
        <p:nvSpPr>
          <p:cNvPr id="13" name="Rounded Rectangle 12"/>
          <p:cNvSpPr/>
          <p:nvPr/>
        </p:nvSpPr>
        <p:spPr>
          <a:xfrm>
            <a:off x="6217920" y="4023360"/>
            <a:ext cx="5212080" cy="2011680"/>
          </a:xfrm>
          <a:prstGeom prst="roundRect">
            <a:avLst/>
          </a:prstGeom>
          <a:solidFill>
            <a:srgbClr val="1E293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206240"/>
            <a:ext cx="4754880" cy="1645920"/>
          </a:xfrm>
          <a:prstGeom prst="rect">
            <a:avLst/>
          </a:prstGeom>
          <a:noFill/>
        </p:spPr>
        <p:txBody>
          <a:bodyPr wrap="square">
            <a:spAutoFit/>
          </a:bodyPr>
          <a:lstStyle/>
          <a:p>
            <a:pPr>
              <a:spcAft>
                <a:spcPts val="600"/>
              </a:spcAft>
              <a:defRPr sz="1500" b="1">
                <a:solidFill>
                  <a:srgbClr val="E2E8F0"/>
                </a:solidFill>
                <a:latin typeface="Arial"/>
              </a:defRPr>
            </a:pPr>
            <a:r>
              <a:t>💾 Respaldos Automatizados Fuera de Línea</a:t>
            </a:r>
          </a:p>
          <a:p>
            <a:pPr>
              <a:defRPr sz="1200">
                <a:solidFill>
                  <a:srgbClr val="E2E8F0"/>
                </a:solidFill>
                <a:latin typeface="Arial"/>
              </a:defRPr>
            </a:pPr>
            <a:r>
              <a:t>Copias de seguridad encriptadas periódicas para evitar cualquier pérdida de información ante fallas técnicas imprevistas.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38BDF8"/>
                </a:solidFill>
                <a:latin typeface="Arial"/>
              </a:defRPr>
            </a:pPr>
            <a:r>
              <a:t>MIGATO • EQUIPO TÉCNICO DE SISTEMAS</a:t>
            </a:r>
          </a:p>
        </p:txBody>
      </p:sp>
      <p:sp>
        <p:nvSpPr>
          <p:cNvPr id="4" name="TextBox 3"/>
          <p:cNvSpPr txBox="1"/>
          <p:nvPr/>
        </p:nvSpPr>
        <p:spPr>
          <a:xfrm>
            <a:off x="731520" y="685800"/>
            <a:ext cx="9601200" cy="731520"/>
          </a:xfrm>
          <a:prstGeom prst="rect">
            <a:avLst/>
          </a:prstGeom>
          <a:noFill/>
        </p:spPr>
        <p:txBody>
          <a:bodyPr wrap="square">
            <a:spAutoFit/>
          </a:bodyPr>
          <a:lstStyle/>
          <a:p>
            <a:pPr>
              <a:defRPr sz="2400" b="1">
                <a:solidFill>
                  <a:srgbClr val="FFFFFF"/>
                </a:solidFill>
                <a:latin typeface="Arial"/>
              </a:defRPr>
            </a:pPr>
            <a:r>
              <a:t>Estudio Económico: Presupuesto Mínimo Solicitado (Fase 1)</a:t>
            </a:r>
          </a:p>
        </p:txBody>
      </p:sp>
      <p:pic>
        <p:nvPicPr>
          <p:cNvPr id="5" name="Picture 4" descr="logo-migato.png"/>
          <p:cNvPicPr>
            <a:picLocks noChangeAspect="1"/>
          </p:cNvPicPr>
          <p:nvPr/>
        </p:nvPicPr>
        <p:blipFill>
          <a:blip r:embed="rId2"/>
          <a:stretch>
            <a:fillRect/>
          </a:stretch>
        </p:blipFill>
        <p:spPr>
          <a:xfrm>
            <a:off x="10789920" y="365760"/>
            <a:ext cx="731520" cy="731520"/>
          </a:xfrm>
          <a:prstGeom prst="rect">
            <a:avLst/>
          </a:prstGeom>
        </p:spPr>
      </p:pic>
      <p:sp>
        <p:nvSpPr>
          <p:cNvPr id="6" name="Rectangle 5"/>
          <p:cNvSpPr/>
          <p:nvPr/>
        </p:nvSpPr>
        <p:spPr>
          <a:xfrm>
            <a:off x="731520" y="14630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10728655" cy="82296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10362895" cy="731520"/>
          </a:xfrm>
          <a:prstGeom prst="rect">
            <a:avLst/>
          </a:prstGeom>
          <a:noFill/>
        </p:spPr>
        <p:txBody>
          <a:bodyPr wrap="square">
            <a:spAutoFit/>
          </a:bodyPr>
          <a:lstStyle/>
          <a:p>
            <a:pPr algn="ctr">
              <a:defRPr sz="1900" b="1">
                <a:solidFill>
                  <a:srgbClr val="FFFFFF"/>
                </a:solidFill>
                <a:latin typeface="Arial"/>
              </a:defRPr>
            </a:pPr>
            <a:r>
              <a:t>Inversión Mínima: ~$24.50 USD / mes   |   $294.00 USD / AÑO TOTAL</a:t>
            </a:r>
          </a:p>
          <a:p>
            <a:pPr algn="ctr">
              <a:defRPr sz="1150">
                <a:solidFill>
                  <a:srgbClr val="E2E8F0"/>
                </a:solidFill>
                <a:latin typeface="Arial"/>
              </a:defRPr>
            </a:pPr>
            <a:r>
              <a:t>El desarrollo de software y arquitectura fue provisto sin costo de honorarios por el Equipo Técnico</a:t>
            </a:r>
          </a:p>
        </p:txBody>
      </p:sp>
      <p:graphicFrame>
        <p:nvGraphicFramePr>
          <p:cNvPr id="9" name="Table 8"/>
          <p:cNvGraphicFramePr>
            <a:graphicFrameLocks noGrp="1"/>
          </p:cNvGraphicFramePr>
          <p:nvPr/>
        </p:nvGraphicFramePr>
        <p:xfrm>
          <a:off x="731520" y="2651760"/>
          <a:ext cx="10728655" cy="3291840"/>
        </p:xfrm>
        <a:graphic>
          <a:graphicData uri="http://schemas.openxmlformats.org/drawingml/2006/table">
            <a:tbl>
              <a:tblPr firstRow="1" bandRow="1">
                <a:tableStyleId>{5C22544A-7EE6-4342-B048-85BDC9FD1C3A}</a:tableStyleId>
              </a:tblPr>
              <a:tblGrid>
                <a:gridCol w="2926080"/>
                <a:gridCol w="4693615"/>
                <a:gridCol w="1554480"/>
                <a:gridCol w="1554480"/>
              </a:tblGrid>
              <a:tr h="548640">
                <a:tc>
                  <a:txBody>
                    <a:bodyPr/>
                    <a:lstStyle/>
                    <a:p>
                      <a:pPr>
                        <a:defRPr b="1" sz="1200">
                          <a:solidFill>
                            <a:srgbClr val="38BDF8"/>
                          </a:solidFill>
                        </a:defRPr>
                      </a:pPr>
                      <a:r>
                        <a:t>Componente</a:t>
                      </a:r>
                    </a:p>
                  </a:txBody>
                  <a:tcPr>
                    <a:solidFill>
                      <a:srgbClr val="0F172A"/>
                    </a:solidFill>
                  </a:tcPr>
                </a:tc>
                <a:tc>
                  <a:txBody>
                    <a:bodyPr/>
                    <a:lstStyle/>
                    <a:p>
                      <a:pPr>
                        <a:defRPr b="1" sz="1200">
                          <a:solidFill>
                            <a:srgbClr val="38BDF8"/>
                          </a:solidFill>
                        </a:defRPr>
                      </a:pPr>
                      <a:r>
                        <a:t>Especificación Técnica</a:t>
                      </a:r>
                    </a:p>
                  </a:txBody>
                  <a:tcPr>
                    <a:solidFill>
                      <a:srgbClr val="0F172A"/>
                    </a:solidFill>
                  </a:tcPr>
                </a:tc>
                <a:tc>
                  <a:txBody>
                    <a:bodyPr/>
                    <a:lstStyle/>
                    <a:p>
                      <a:pPr algn="ctr">
                        <a:defRPr b="1" sz="1200">
                          <a:solidFill>
                            <a:srgbClr val="38BDF8"/>
                          </a:solidFill>
                        </a:defRPr>
                      </a:pPr>
                      <a:r>
                        <a:t>Mensual</a:t>
                      </a:r>
                    </a:p>
                  </a:txBody>
                  <a:tcPr>
                    <a:solidFill>
                      <a:srgbClr val="0F172A"/>
                    </a:solidFill>
                  </a:tcPr>
                </a:tc>
                <a:tc>
                  <a:txBody>
                    <a:bodyPr/>
                    <a:lstStyle/>
                    <a:p>
                      <a:pPr algn="ctr">
                        <a:defRPr b="1" sz="1200">
                          <a:solidFill>
                            <a:srgbClr val="38BDF8"/>
                          </a:solidFill>
                        </a:defRPr>
                      </a:pPr>
                      <a:r>
                        <a:t>Anual Total</a:t>
                      </a:r>
                    </a:p>
                  </a:txBody>
                  <a:tcPr>
                    <a:solidFill>
                      <a:srgbClr val="0F172A"/>
                    </a:solidFill>
                  </a:tcPr>
                </a:tc>
              </a:tr>
              <a:tr h="548640">
                <a:tc>
                  <a:txBody>
                    <a:bodyPr/>
                    <a:lstStyle/>
                    <a:p>
                      <a:pPr>
                        <a:defRPr sz="1100" b="1">
                          <a:solidFill>
                            <a:srgbClr val="38BDF8"/>
                          </a:solidFill>
                          <a:latin typeface="Arial"/>
                        </a:defRPr>
                      </a:pPr>
                      <a:r>
                        <a:t>Servidor Cloud VPS Dedicado</a:t>
                      </a:r>
                    </a:p>
                  </a:txBody>
                  <a:tcPr>
                    <a:solidFill>
                      <a:srgbClr val="1E293B"/>
                    </a:solidFill>
                  </a:tcPr>
                </a:tc>
                <a:tc>
                  <a:txBody>
                    <a:bodyPr/>
                    <a:lstStyle/>
                    <a:p>
                      <a:pPr>
                        <a:defRPr sz="1100" b="0">
                          <a:solidFill>
                            <a:srgbClr val="E2E8F0"/>
                          </a:solidFill>
                          <a:latin typeface="Arial"/>
                        </a:defRPr>
                      </a:pPr>
                      <a:r>
                        <a:t>4 vCPU / 8 GB RAM / 100 GB SSD NVMe / Red 1 Gbps / Anti-DDoS</a:t>
                      </a:r>
                    </a:p>
                  </a:txBody>
                  <a:tcPr>
                    <a:solidFill>
                      <a:srgbClr val="1E293B"/>
                    </a:solidFill>
                  </a:tcPr>
                </a:tc>
                <a:tc>
                  <a:txBody>
                    <a:bodyPr/>
                    <a:lstStyle/>
                    <a:p>
                      <a:pPr algn="ctr">
                        <a:defRPr sz="1100" b="0">
                          <a:solidFill>
                            <a:srgbClr val="E2E8F0"/>
                          </a:solidFill>
                          <a:latin typeface="Arial"/>
                        </a:defRPr>
                      </a:pPr>
                      <a:r>
                        <a:t>$20.00 USD</a:t>
                      </a:r>
                    </a:p>
                  </a:txBody>
                  <a:tcPr>
                    <a:solidFill>
                      <a:srgbClr val="1E293B"/>
                    </a:solidFill>
                  </a:tcPr>
                </a:tc>
                <a:tc>
                  <a:txBody>
                    <a:bodyPr/>
                    <a:lstStyle/>
                    <a:p>
                      <a:pPr algn="ctr">
                        <a:defRPr sz="1100" b="0">
                          <a:solidFill>
                            <a:srgbClr val="E2E8F0"/>
                          </a:solidFill>
                          <a:latin typeface="Arial"/>
                        </a:defRPr>
                      </a:pPr>
                      <a:r>
                        <a:t>$240.00 USD</a:t>
                      </a:r>
                    </a:p>
                  </a:txBody>
                  <a:tcPr>
                    <a:solidFill>
                      <a:srgbClr val="1E293B"/>
                    </a:solidFill>
                  </a:tcPr>
                </a:tc>
              </a:tr>
              <a:tr h="548640">
                <a:tc>
                  <a:txBody>
                    <a:bodyPr/>
                    <a:lstStyle/>
                    <a:p>
                      <a:pPr>
                        <a:defRPr sz="1100" b="1">
                          <a:solidFill>
                            <a:srgbClr val="38BDF8"/>
                          </a:solidFill>
                          <a:latin typeface="Arial"/>
                        </a:defRPr>
                      </a:pPr>
                      <a:r>
                        <a:t>Dominio Institucional Oficial</a:t>
                      </a:r>
                    </a:p>
                  </a:txBody>
                  <a:tcPr>
                    <a:solidFill>
                      <a:srgbClr val="1E293B"/>
                    </a:solidFill>
                  </a:tcPr>
                </a:tc>
                <a:tc>
                  <a:txBody>
                    <a:bodyPr/>
                    <a:lstStyle/>
                    <a:p>
                      <a:pPr>
                        <a:defRPr sz="1100" b="0">
                          <a:solidFill>
                            <a:srgbClr val="E2E8F0"/>
                          </a:solidFill>
                          <a:latin typeface="Arial"/>
                        </a:defRPr>
                      </a:pPr>
                      <a:r>
                        <a:t>Registro anual de dominio web + Certificado SSL 256 bits</a:t>
                      </a:r>
                    </a:p>
                  </a:txBody>
                  <a:tcPr>
                    <a:solidFill>
                      <a:srgbClr val="1E293B"/>
                    </a:solidFill>
                  </a:tcPr>
                </a:tc>
                <a:tc>
                  <a:txBody>
                    <a:bodyPr/>
                    <a:lstStyle/>
                    <a:p>
                      <a:pPr algn="ctr">
                        <a:defRPr sz="1100" b="0">
                          <a:solidFill>
                            <a:srgbClr val="E2E8F0"/>
                          </a:solidFill>
                          <a:latin typeface="Arial"/>
                        </a:defRPr>
                      </a:pPr>
                      <a:r>
                        <a:t>$1.50 USD</a:t>
                      </a:r>
                    </a:p>
                  </a:txBody>
                  <a:tcPr>
                    <a:solidFill>
                      <a:srgbClr val="1E293B"/>
                    </a:solidFill>
                  </a:tcPr>
                </a:tc>
                <a:tc>
                  <a:txBody>
                    <a:bodyPr/>
                    <a:lstStyle/>
                    <a:p>
                      <a:pPr algn="ctr">
                        <a:defRPr sz="1100" b="0">
                          <a:solidFill>
                            <a:srgbClr val="E2E8F0"/>
                          </a:solidFill>
                          <a:latin typeface="Arial"/>
                        </a:defRPr>
                      </a:pPr>
                      <a:r>
                        <a:t>$18.00 USD</a:t>
                      </a:r>
                    </a:p>
                  </a:txBody>
                  <a:tcPr>
                    <a:solidFill>
                      <a:srgbClr val="1E293B"/>
                    </a:solidFill>
                  </a:tcPr>
                </a:tc>
              </a:tr>
              <a:tr h="548640">
                <a:tc>
                  <a:txBody>
                    <a:bodyPr/>
                    <a:lstStyle/>
                    <a:p>
                      <a:pPr>
                        <a:defRPr sz="1100" b="1">
                          <a:solidFill>
                            <a:srgbClr val="38BDF8"/>
                          </a:solidFill>
                          <a:latin typeface="Arial"/>
                        </a:defRPr>
                      </a:pPr>
                      <a:r>
                        <a:t>IP Pública Fija Dedicada</a:t>
                      </a:r>
                    </a:p>
                  </a:txBody>
                  <a:tcPr>
                    <a:solidFill>
                      <a:srgbClr val="1E293B"/>
                    </a:solidFill>
                  </a:tcPr>
                </a:tc>
                <a:tc>
                  <a:txBody>
                    <a:bodyPr/>
                    <a:lstStyle/>
                    <a:p>
                      <a:pPr>
                        <a:defRPr sz="1100" b="0">
                          <a:solidFill>
                            <a:srgbClr val="E2E8F0"/>
                          </a:solidFill>
                          <a:latin typeface="Arial"/>
                        </a:defRPr>
                      </a:pPr>
                      <a:r>
                        <a:t>Dirección IP estática exclusiva para filtrado seguro de conexiones</a:t>
                      </a:r>
                    </a:p>
                  </a:txBody>
                  <a:tcPr>
                    <a:solidFill>
                      <a:srgbClr val="1E293B"/>
                    </a:solidFill>
                  </a:tcPr>
                </a:tc>
                <a:tc>
                  <a:txBody>
                    <a:bodyPr/>
                    <a:lstStyle/>
                    <a:p>
                      <a:pPr algn="ctr">
                        <a:defRPr sz="1100" b="0">
                          <a:solidFill>
                            <a:srgbClr val="E2E8F0"/>
                          </a:solidFill>
                          <a:latin typeface="Arial"/>
                        </a:defRPr>
                      </a:pPr>
                      <a:r>
                        <a:t>$3.00 USD</a:t>
                      </a:r>
                    </a:p>
                  </a:txBody>
                  <a:tcPr>
                    <a:solidFill>
                      <a:srgbClr val="1E293B"/>
                    </a:solidFill>
                  </a:tcPr>
                </a:tc>
                <a:tc>
                  <a:txBody>
                    <a:bodyPr/>
                    <a:lstStyle/>
                    <a:p>
                      <a:pPr algn="ctr">
                        <a:defRPr sz="1100" b="0">
                          <a:solidFill>
                            <a:srgbClr val="E2E8F0"/>
                          </a:solidFill>
                          <a:latin typeface="Arial"/>
                        </a:defRPr>
                      </a:pPr>
                      <a:r>
                        <a:t>$36.00 USD</a:t>
                      </a:r>
                    </a:p>
                  </a:txBody>
                  <a:tcPr>
                    <a:solidFill>
                      <a:srgbClr val="1E293B"/>
                    </a:solidFill>
                  </a:tcPr>
                </a:tc>
              </a:tr>
              <a:tr h="548640">
                <a:tc>
                  <a:txBody>
                    <a:bodyPr/>
                    <a:lstStyle/>
                    <a:p>
                      <a:pPr>
                        <a:defRPr sz="1100" b="1">
                          <a:solidFill>
                            <a:srgbClr val="38BDF8"/>
                          </a:solidFill>
                          <a:latin typeface="Arial"/>
                        </a:defRPr>
                      </a:pPr>
                      <a:r>
                        <a:t>Software de Servidor y Código</a:t>
                      </a:r>
                    </a:p>
                  </a:txBody>
                  <a:tcPr>
                    <a:solidFill>
                      <a:srgbClr val="1E293B"/>
                    </a:solidFill>
                  </a:tcPr>
                </a:tc>
                <a:tc>
                  <a:txBody>
                    <a:bodyPr/>
                    <a:lstStyle/>
                    <a:p>
                      <a:pPr>
                        <a:defRPr sz="1100" b="0">
                          <a:solidFill>
                            <a:srgbClr val="E2E8F0"/>
                          </a:solidFill>
                          <a:latin typeface="Arial"/>
                        </a:defRPr>
                      </a:pPr>
                      <a:r>
                        <a:t>Linux Ubuntu Server, Nginx, PostgreSQL, Fail2ban (FOSS)</a:t>
                      </a:r>
                    </a:p>
                  </a:txBody>
                  <a:tcPr>
                    <a:solidFill>
                      <a:srgbClr val="1E293B"/>
                    </a:solidFill>
                  </a:tcPr>
                </a:tc>
                <a:tc>
                  <a:txBody>
                    <a:bodyPr/>
                    <a:lstStyle/>
                    <a:p>
                      <a:pPr algn="ctr">
                        <a:defRPr sz="1100" b="0">
                          <a:solidFill>
                            <a:srgbClr val="E2E8F0"/>
                          </a:solidFill>
                          <a:latin typeface="Arial"/>
                        </a:defRPr>
                      </a:pPr>
                      <a:r>
                        <a:t>$0.00 USD</a:t>
                      </a:r>
                    </a:p>
                  </a:txBody>
                  <a:tcPr>
                    <a:solidFill>
                      <a:srgbClr val="1E293B"/>
                    </a:solidFill>
                  </a:tcPr>
                </a:tc>
                <a:tc>
                  <a:txBody>
                    <a:bodyPr/>
                    <a:lstStyle/>
                    <a:p>
                      <a:pPr algn="ctr">
                        <a:defRPr sz="1100" b="0">
                          <a:solidFill>
                            <a:srgbClr val="E2E8F0"/>
                          </a:solidFill>
                          <a:latin typeface="Arial"/>
                        </a:defRPr>
                      </a:pPr>
                      <a:r>
                        <a:t>$0.00 USD</a:t>
                      </a:r>
                    </a:p>
                  </a:txBody>
                  <a:tcPr>
                    <a:solidFill>
                      <a:srgbClr val="1E293B"/>
                    </a:solidFill>
                  </a:tcPr>
                </a:tc>
              </a:tr>
              <a:tr h="548640">
                <a:tc>
                  <a:txBody>
                    <a:bodyPr/>
                    <a:lstStyle/>
                    <a:p>
                      <a:pPr>
                        <a:defRPr sz="1200" b="1">
                          <a:solidFill>
                            <a:srgbClr val="FFFFFF"/>
                          </a:solidFill>
                          <a:latin typeface="Arial"/>
                        </a:defRPr>
                      </a:pPr>
                      <a:r>
                        <a:t>TOTAL MÍNIMO SOLICITADO:</a:t>
                      </a:r>
                    </a:p>
                  </a:txBody>
                  <a:tcPr>
                    <a:solidFill>
                      <a:srgbClr val="022C4B"/>
                    </a:solidFill>
                  </a:tcPr>
                </a:tc>
                <a:tc>
                  <a:txBody>
                    <a:bodyPr/>
                    <a:lstStyle/>
                    <a:p>
                      <a:pPr>
                        <a:defRPr sz="1200" b="1">
                          <a:solidFill>
                            <a:srgbClr val="FFFFFF"/>
                          </a:solidFill>
                          <a:latin typeface="Arial"/>
                        </a:defRPr>
                      </a:pPr>
                      <a:r>
                        <a:t>Infraestructura soberana y certificada para las pruebas piloto</a:t>
                      </a:r>
                    </a:p>
                  </a:txBody>
                  <a:tcPr>
                    <a:solidFill>
                      <a:srgbClr val="022C4B"/>
                    </a:solidFill>
                  </a:tcPr>
                </a:tc>
                <a:tc>
                  <a:txBody>
                    <a:bodyPr/>
                    <a:lstStyle/>
                    <a:p>
                      <a:pPr algn="ctr">
                        <a:defRPr sz="1200" b="1">
                          <a:solidFill>
                            <a:srgbClr val="4ADE80"/>
                          </a:solidFill>
                          <a:latin typeface="Arial"/>
                        </a:defRPr>
                      </a:pPr>
                      <a:r>
                        <a:t>~$24.50 USD</a:t>
                      </a:r>
                    </a:p>
                  </a:txBody>
                  <a:tcPr>
                    <a:solidFill>
                      <a:srgbClr val="022C4B"/>
                    </a:solidFill>
                  </a:tcPr>
                </a:tc>
                <a:tc>
                  <a:txBody>
                    <a:bodyPr/>
                    <a:lstStyle/>
                    <a:p>
                      <a:pPr algn="ctr">
                        <a:defRPr sz="1200" b="1">
                          <a:solidFill>
                            <a:srgbClr val="4ADE80"/>
                          </a:solidFill>
                          <a:latin typeface="Arial"/>
                        </a:defRPr>
                      </a:pPr>
                      <a:r>
                        <a:t>$294.00 USD</a:t>
                      </a:r>
                    </a:p>
                  </a:txBody>
                  <a:tcPr>
                    <a:solidFill>
                      <a:srgbClr val="022C4B"/>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38BDF8"/>
                </a:solidFill>
                <a:latin typeface="Arial"/>
              </a:defRPr>
            </a:pPr>
            <a:r>
              <a:t>MIGATO • EQUIPO TÉCNICO DE SISTEMAS</a:t>
            </a:r>
          </a:p>
        </p:txBody>
      </p:sp>
      <p:sp>
        <p:nvSpPr>
          <p:cNvPr id="4" name="TextBox 3"/>
          <p:cNvSpPr txBox="1"/>
          <p:nvPr/>
        </p:nvSpPr>
        <p:spPr>
          <a:xfrm>
            <a:off x="731520" y="685800"/>
            <a:ext cx="9601200" cy="731520"/>
          </a:xfrm>
          <a:prstGeom prst="rect">
            <a:avLst/>
          </a:prstGeom>
          <a:noFill/>
        </p:spPr>
        <p:txBody>
          <a:bodyPr wrap="square">
            <a:spAutoFit/>
          </a:bodyPr>
          <a:lstStyle/>
          <a:p>
            <a:pPr>
              <a:defRPr sz="2400" b="1">
                <a:solidFill>
                  <a:srgbClr val="FFFFFF"/>
                </a:solidFill>
                <a:latin typeface="Arial"/>
              </a:defRPr>
            </a:pPr>
            <a:r>
              <a:t>Plan de Despliegue Escalonado por Fases</a:t>
            </a:r>
          </a:p>
        </p:txBody>
      </p:sp>
      <p:pic>
        <p:nvPicPr>
          <p:cNvPr id="5" name="Picture 4" descr="logo-migato.png"/>
          <p:cNvPicPr>
            <a:picLocks noChangeAspect="1"/>
          </p:cNvPicPr>
          <p:nvPr/>
        </p:nvPicPr>
        <p:blipFill>
          <a:blip r:embed="rId2"/>
          <a:stretch>
            <a:fillRect/>
          </a:stretch>
        </p:blipFill>
        <p:spPr>
          <a:xfrm>
            <a:off x="10789920" y="365760"/>
            <a:ext cx="731520" cy="731520"/>
          </a:xfrm>
          <a:prstGeom prst="rect">
            <a:avLst/>
          </a:prstGeom>
        </p:spPr>
      </p:pic>
      <p:sp>
        <p:nvSpPr>
          <p:cNvPr id="6" name="Rectangle 5"/>
          <p:cNvSpPr/>
          <p:nvPr/>
        </p:nvSpPr>
        <p:spPr>
          <a:xfrm>
            <a:off x="731520" y="14630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5120640" cy="4389120"/>
          </a:xfrm>
          <a:prstGeom prst="roundRect">
            <a:avLst/>
          </a:prstGeom>
          <a:solidFill>
            <a:srgbClr val="1E293B"/>
          </a:solidFill>
          <a:ln>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20240"/>
            <a:ext cx="4572000" cy="4023360"/>
          </a:xfrm>
          <a:prstGeom prst="rect">
            <a:avLst/>
          </a:prstGeom>
          <a:noFill/>
        </p:spPr>
        <p:txBody>
          <a:bodyPr wrap="square">
            <a:spAutoFit/>
          </a:bodyPr>
          <a:lstStyle/>
          <a:p>
            <a:pPr>
              <a:spcAft>
                <a:spcPts val="1000"/>
              </a:spcAft>
              <a:defRPr sz="1600" b="1">
                <a:solidFill>
                  <a:srgbClr val="4ADE80"/>
                </a:solidFill>
                <a:latin typeface="Arial"/>
              </a:defRPr>
            </a:pPr>
            <a:r>
              <a:t>🚀 FASE 1: Inmediata ($294.00 USD)</a:t>
            </a:r>
          </a:p>
          <a:p>
            <a:pPr>
              <a:spcAft>
                <a:spcPts val="1200"/>
              </a:spcAft>
              <a:defRPr sz="1200" i="1">
                <a:solidFill>
                  <a:srgbClr val="94A3B8"/>
                </a:solidFill>
                <a:latin typeface="Arial"/>
              </a:defRPr>
            </a:pPr>
            <a:r>
              <a:t>Objeto directo de esta solicitud de financiamiento:</a:t>
            </a:r>
          </a:p>
          <a:p>
            <a:pPr>
              <a:spcAft>
                <a:spcPts val="800"/>
              </a:spcAft>
              <a:defRPr sz="1200">
                <a:solidFill>
                  <a:srgbClr val="E2E8F0"/>
                </a:solidFill>
                <a:latin typeface="Arial"/>
              </a:defRPr>
            </a:pPr>
            <a:r>
              <a:t>• Contratación del VPS dedicado y registro del dominio oficial.</a:t>
            </a:r>
          </a:p>
          <a:p>
            <a:pPr>
              <a:spcAft>
                <a:spcPts val="800"/>
              </a:spcAft>
              <a:defRPr sz="1200">
                <a:solidFill>
                  <a:srgbClr val="E2E8F0"/>
                </a:solidFill>
                <a:latin typeface="Arial"/>
              </a:defRPr>
            </a:pPr>
            <a:r>
              <a:t>• Instalación del entorno Linux blindado con cortafuegos y certificados SSL 256 bits.</a:t>
            </a:r>
          </a:p>
          <a:p>
            <a:pPr>
              <a:spcAft>
                <a:spcPts val="800"/>
              </a:spcAft>
              <a:defRPr sz="1200">
                <a:solidFill>
                  <a:srgbClr val="E2E8F0"/>
                </a:solidFill>
                <a:latin typeface="Arial"/>
              </a:defRPr>
            </a:pPr>
            <a:r>
              <a:t>• Ejecución de pruebas de carga y concurrencia con simulación de tráfico real.</a:t>
            </a:r>
          </a:p>
          <a:p>
            <a:pPr>
              <a:spcAft>
                <a:spcPts val="800"/>
              </a:spcAft>
              <a:defRPr sz="1200">
                <a:solidFill>
                  <a:srgbClr val="E2E8F0"/>
                </a:solidFill>
                <a:latin typeface="Arial"/>
              </a:defRPr>
            </a:pPr>
            <a:r>
              <a:t>• Despliegue y validación en 3 parroquias piloto de Maturín: Las Cocuizas, San Simón y Alto de Los Godos.</a:t>
            </a:r>
          </a:p>
        </p:txBody>
      </p:sp>
      <p:sp>
        <p:nvSpPr>
          <p:cNvPr id="9" name="Rounded Rectangle 8"/>
          <p:cNvSpPr/>
          <p:nvPr/>
        </p:nvSpPr>
        <p:spPr>
          <a:xfrm>
            <a:off x="6217920" y="1737360"/>
            <a:ext cx="5212080" cy="43891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20240"/>
            <a:ext cx="4663440" cy="4023360"/>
          </a:xfrm>
          <a:prstGeom prst="rect">
            <a:avLst/>
          </a:prstGeom>
          <a:noFill/>
        </p:spPr>
        <p:txBody>
          <a:bodyPr wrap="square">
            <a:spAutoFit/>
          </a:bodyPr>
          <a:lstStyle/>
          <a:p>
            <a:pPr>
              <a:spcAft>
                <a:spcPts val="1000"/>
              </a:spcAft>
              <a:defRPr sz="1600" b="1">
                <a:solidFill>
                  <a:srgbClr val="94A3B8"/>
                </a:solidFill>
                <a:latin typeface="Arial"/>
              </a:defRPr>
            </a:pPr>
            <a:r>
              <a:t>🏢 FASE 2: Consolidación Futura</a:t>
            </a:r>
          </a:p>
          <a:p>
            <a:pPr>
              <a:spcAft>
                <a:spcPts val="1200"/>
              </a:spcAft>
              <a:defRPr sz="1200" i="1">
                <a:solidFill>
                  <a:srgbClr val="94A3B8"/>
                </a:solidFill>
                <a:latin typeface="Arial"/>
              </a:defRPr>
            </a:pPr>
            <a:r>
              <a:t>Sujeta a etapas posteriores y disponibilidad de recursos:</a:t>
            </a:r>
          </a:p>
          <a:p>
            <a:pPr>
              <a:spcAft>
                <a:spcPts val="800"/>
              </a:spcAft>
              <a:defRPr sz="1200">
                <a:solidFill>
                  <a:srgbClr val="94A3B8"/>
                </a:solidFill>
                <a:latin typeface="Arial"/>
              </a:defRPr>
            </a:pPr>
            <a:r>
              <a:t>• Dotación física del centro de mando y monitoreo regional.</a:t>
            </a:r>
          </a:p>
          <a:p>
            <a:pPr>
              <a:spcAft>
                <a:spcPts val="800"/>
              </a:spcAft>
              <a:defRPr sz="1200">
                <a:solidFill>
                  <a:srgbClr val="94A3B8"/>
                </a:solidFill>
                <a:latin typeface="Arial"/>
              </a:defRPr>
            </a:pPr>
            <a:r>
              <a:t>• Equipos de computación dedicados para operadores de sala situacional.</a:t>
            </a:r>
          </a:p>
          <a:p>
            <a:pPr>
              <a:spcAft>
                <a:spcPts val="800"/>
              </a:spcAft>
              <a:defRPr sz="1200">
                <a:solidFill>
                  <a:srgbClr val="94A3B8"/>
                </a:solidFill>
                <a:latin typeface="Arial"/>
              </a:defRPr>
            </a:pPr>
            <a:r>
              <a:t>• Pantallas de visualización simultánea de los 5 módulos.</a:t>
            </a:r>
          </a:p>
          <a:p>
            <a:pPr>
              <a:spcAft>
                <a:spcPts val="800"/>
              </a:spcAft>
              <a:defRPr sz="1200">
                <a:solidFill>
                  <a:srgbClr val="94A3B8"/>
                </a:solidFill>
                <a:latin typeface="Arial"/>
              </a:defRPr>
            </a:pPr>
            <a:r>
              <a:t>• Sistemas de respaldo eléctrico (inversores / UPS) para operar durante las fallas del servicio eléctrico.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38BDF8"/>
                </a:solidFill>
                <a:latin typeface="Arial"/>
              </a:defRPr>
            </a:pPr>
            <a:r>
              <a:t>MIGATO • EQUIPO TÉCNICO DE SISTEMAS</a:t>
            </a:r>
          </a:p>
        </p:txBody>
      </p:sp>
      <p:sp>
        <p:nvSpPr>
          <p:cNvPr id="4" name="TextBox 3"/>
          <p:cNvSpPr txBox="1"/>
          <p:nvPr/>
        </p:nvSpPr>
        <p:spPr>
          <a:xfrm>
            <a:off x="731520" y="685800"/>
            <a:ext cx="9601200" cy="731520"/>
          </a:xfrm>
          <a:prstGeom prst="rect">
            <a:avLst/>
          </a:prstGeom>
          <a:noFill/>
        </p:spPr>
        <p:txBody>
          <a:bodyPr wrap="square">
            <a:spAutoFit/>
          </a:bodyPr>
          <a:lstStyle/>
          <a:p>
            <a:pPr>
              <a:defRPr sz="2400" b="1">
                <a:solidFill>
                  <a:srgbClr val="FFFFFF"/>
                </a:solidFill>
                <a:latin typeface="Arial"/>
              </a:defRPr>
            </a:pPr>
            <a:r>
              <a:t>Conclusión y Dictamen Técnico: El Momento es Ahora</a:t>
            </a:r>
          </a:p>
        </p:txBody>
      </p:sp>
      <p:pic>
        <p:nvPicPr>
          <p:cNvPr id="5" name="Picture 4" descr="logo-migato.png"/>
          <p:cNvPicPr>
            <a:picLocks noChangeAspect="1"/>
          </p:cNvPicPr>
          <p:nvPr/>
        </p:nvPicPr>
        <p:blipFill>
          <a:blip r:embed="rId2"/>
          <a:stretch>
            <a:fillRect/>
          </a:stretch>
        </p:blipFill>
        <p:spPr>
          <a:xfrm>
            <a:off x="10789920" y="365760"/>
            <a:ext cx="731520" cy="731520"/>
          </a:xfrm>
          <a:prstGeom prst="rect">
            <a:avLst/>
          </a:prstGeom>
        </p:spPr>
      </p:pic>
      <p:sp>
        <p:nvSpPr>
          <p:cNvPr id="6" name="Rectangle 5"/>
          <p:cNvSpPr/>
          <p:nvPr/>
        </p:nvSpPr>
        <p:spPr>
          <a:xfrm>
            <a:off x="731520" y="146304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371600" y="1737360"/>
            <a:ext cx="9448495" cy="4389120"/>
          </a:xfrm>
          <a:prstGeom prst="roundRect">
            <a:avLst/>
          </a:prstGeom>
          <a:solidFill>
            <a:srgbClr val="1E293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1920240"/>
            <a:ext cx="8899855" cy="4023360"/>
          </a:xfrm>
          <a:prstGeom prst="rect">
            <a:avLst/>
          </a:prstGeom>
          <a:noFill/>
        </p:spPr>
        <p:txBody>
          <a:bodyPr wrap="square">
            <a:spAutoFit/>
          </a:bodyPr>
          <a:lstStyle/>
          <a:p>
            <a:pPr>
              <a:spcAft>
                <a:spcPts val="1400"/>
              </a:spcAft>
              <a:defRPr sz="1800" b="1">
                <a:solidFill>
                  <a:srgbClr val="38BDF8"/>
                </a:solidFill>
                <a:latin typeface="Arial"/>
              </a:defRPr>
            </a:pPr>
            <a:r>
              <a:t>✅ Dictamen Favorable del Equipo Técnico</a:t>
            </a:r>
          </a:p>
          <a:p>
            <a:pPr>
              <a:spcAft>
                <a:spcPts val="400"/>
              </a:spcAft>
              <a:defRPr sz="1300" b="1">
                <a:solidFill>
                  <a:srgbClr val="FFFFFF"/>
                </a:solidFill>
                <a:latin typeface="Arial"/>
              </a:defRPr>
            </a:pPr>
            <a:r>
              <a:t>• Madurez del Software: </a:t>
            </a:r>
          </a:p>
          <a:p>
            <a:pPr>
              <a:spcAft>
                <a:spcPts val="1000"/>
              </a:spcAft>
              <a:defRPr sz="1200">
                <a:solidFill>
                  <a:srgbClr val="E2E8F0"/>
                </a:solidFill>
                <a:latin typeface="Arial"/>
              </a:defRPr>
            </a:pPr>
            <a:r>
              <a:t>   Los 5 módulos están programados, probados y listos para operar. No hay riesgo de desarrollo.</a:t>
            </a:r>
          </a:p>
          <a:p>
            <a:pPr>
              <a:spcAft>
                <a:spcPts val="400"/>
              </a:spcAft>
              <a:defRPr sz="1300" b="1">
                <a:solidFill>
                  <a:srgbClr val="FFFFFF"/>
                </a:solidFill>
                <a:latin typeface="Arial"/>
              </a:defRPr>
            </a:pPr>
            <a:r>
              <a:t>• Protección Total: </a:t>
            </a:r>
          </a:p>
          <a:p>
            <a:pPr>
              <a:spcAft>
                <a:spcPts val="1000"/>
              </a:spcAft>
              <a:defRPr sz="1200">
                <a:solidFill>
                  <a:srgbClr val="E2E8F0"/>
                </a:solidFill>
                <a:latin typeface="Arial"/>
              </a:defRPr>
            </a:pPr>
            <a:r>
              <a:t>   Nuestra militancia y coordinadores están blindados con tokens efímeros y formularios sin residuo en teléfono.</a:t>
            </a:r>
          </a:p>
          <a:p>
            <a:pPr>
              <a:spcAft>
                <a:spcPts val="400"/>
              </a:spcAft>
              <a:defRPr sz="1300" b="1">
                <a:solidFill>
                  <a:srgbClr val="FFFFFF"/>
                </a:solidFill>
                <a:latin typeface="Arial"/>
              </a:defRPr>
            </a:pPr>
            <a:r>
              <a:t>• Máxima Rentabilidad Política: </a:t>
            </a:r>
          </a:p>
          <a:p>
            <a:pPr>
              <a:spcAft>
                <a:spcPts val="1000"/>
              </a:spcAft>
              <a:defRPr sz="1200">
                <a:solidFill>
                  <a:srgbClr val="E2E8F0"/>
                </a:solidFill>
                <a:latin typeface="Arial"/>
              </a:defRPr>
            </a:pPr>
            <a:r>
              <a:t>   Con solo $294.00 USD anuales, MIGATO se posiciona a la vanguardia organizativa del oriente del país.</a:t>
            </a:r>
          </a:p>
          <a:p>
            <a:pPr>
              <a:spcBef>
                <a:spcPts val="800"/>
              </a:spcBef>
              <a:defRPr sz="1300" b="1">
                <a:solidFill>
                  <a:srgbClr val="4ADE80"/>
                </a:solidFill>
                <a:latin typeface="Arial"/>
              </a:defRPr>
            </a:pPr>
            <a:r>
              <a:t>RECOMENDACIÓN FINAL: Aprobar la contratación de la Fase 1 ($294.00 USD) para encender el servidor y comenzar de inmediato las pruebas piloto en Maturín.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