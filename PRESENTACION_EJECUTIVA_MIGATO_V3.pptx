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Estimados miembros de la Dirección General: les presentamos el dictamen técnico y la propuesta de factibilidad para la puesta en marcha de la Plataforma Territorial MIGATO. El desarrollo del software ha sido completado al 100% por nuestro equipo sin costo de honorarios para la organización. El objetivo de esta sesión ejecutiva es someter a su consideración la aprobación de un presupuesto operativo mínimo de $24.50 mensuales para la infraestructura cloud del servidor privado.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gestión pública en Monagas enfrenta una severa ineficiencia burocrática que ha deteriorado los servicios básicos y la confianza ciudadana. En el ámbito organizativo, operar mediante canales informales de mensajería genera dispersión, pérdida de datos y riesgos de seguridad para los equipos de campo. Frente a este panorama, MIGATO propone un modelo de gestión basado en la competencia técnica, la transparencia administrativa y la toma de decisiones fundamentada en indicadores reales y auditables.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plataforma constituye una solución tecnológica completa y operativa que articula cinco componentes complementarios: despacho parroquial por enlace web seguro, censo comunitario con resguardo de privacidad, seguimiento del padrón electoral con archivo de actas, consola cartográfica 3D y supervisión técnica de la red regional de salud. Todo el sistema opera bajo una arquitectura web unificada, accesible y sin intermediarios.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En el trabajo de campo, la seguridad de nuestros coordinadores y la privacidad ciudadana son prioritarias. Por ello, el Módulo 1 elimina contraseñas mediante tokens seguros que dan acceso exclusivo a la parroquia asignada. En el Módulo 2, el censo se enfoca en necesidades cuantitativas (familias, viviendas, transformadores) y, por principio ético, no recopila nombres ni cédulas. Al enviar el formulario, los datos viajan cifrados y el teléfono queda completamente limpio.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Módulo 3 está concebido como una herramienta de archivo y auditoría interna para la organización, respetando plenamente el marco institucional. Mapea la totalidad de los 175 centros y 361 mesas de Maturín, identificando los 40 centros que concentran más del 60% del padrón. Facilita la asignación de testigos y permite cargar los resultados con respaldo fotográfico del acta física y comprobante impreso con su código QR, asegurando un expediente fehaciente para nuestro cotejo interno.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Módulo 4 ofrece a la Dirección una consola geoespacial tridimensional para evaluar la topografía, la red de carreteras y los servicios públicos. Incorpora un filtro de focalización territorial que atenúa las áreas circundantes para centrar el debate ejecutivo en la parroquia evaluada. Por su parte, el Módulo 5 audita técnicamente 84 centros de salud de Monagas, registrando el estado de plantas eléctricas y quirófanos, lo que provee el fundamento técnico indispensable para nuestras propuestas de gobierno.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Una solución estratégica de esta magnitud requiere una infraestructura profesional. A diferencia de los alojamientos compartidos que sufren caídas imprevistas y carecen de aislamiento, un Servidor Virtual Privado dedicado nos otorga independencia, procesamiento exclusivo y respaldo continuo. Implementamos cifrado SSL de 256 bits, reglas de cortafuegos y pruebas de estrés para asegurar que la plataforma mantenga tiempos de respuesta inferiores a un segundo durante picos de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En esta lámina presentamos el análisis económico con estricta transparencia. El costo del desarrollo de software y arquitectura representa cero bolívares y cero dólares para la organización, habiendo sido aportado íntegramente por el equipo técnico. La inversión solicitada se limita exclusivamente a los costos directos de la nube: $20 mensuales por el VPS dedicado, $1.50 por el dominio y certificados SSL, y $3 por la IP fija. El total asciende a 24 dólares y medio mensuales, o 294 dólares anuales.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Con un criterio gerencial responsable, proponemos una implementación escalonada en dos etapas. La presente solicitud corresponde exclusivamente a la Fase 1, con una inversión única de 294 dólares anuales para encender el servidor y validar la plataforma en tres parroquias piloto de Maturín: Las Cocuizas, San Simón y Alto de Los Godos. La Fase 2, relativa al equipamiento físico de la Sala Situacional, se evaluará posteriormente según la disponibilidad y planificación del partido.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Para concluir, reiteramos que la herramienta se encuentra completamente terminada, probada y lista para entrar en operación. Ofrece una alta solvencia funcional y un protocolo estricto de resguardo para la militancia. Con una inversión mínima de 294 dólares anuales, MIGATO se dota de una plataforma corporativa soberana. El Equipo Técnico recomienda formalmente la aprobación de este presupuesto para iniciar el encendido de inmediato. Quedamos a su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igato.png"/>
          <p:cNvPicPr>
            <a:picLocks noChangeAspect="1"/>
          </p:cNvPicPr>
          <p:nvPr/>
        </p:nvPicPr>
        <p:blipFill>
          <a:blip r:embed="rId2"/>
          <a:stretch>
            <a:fillRect/>
          </a:stretch>
        </p:blipFill>
        <p:spPr>
          <a:xfrm>
            <a:off x="5394960" y="822960"/>
            <a:ext cx="1371600" cy="1371600"/>
          </a:xfrm>
          <a:prstGeom prst="rect">
            <a:avLst/>
          </a:prstGeom>
        </p:spPr>
      </p:pic>
      <p:sp>
        <p:nvSpPr>
          <p:cNvPr id="4" name="TextBox 3"/>
          <p:cNvSpPr txBox="1"/>
          <p:nvPr/>
        </p:nvSpPr>
        <p:spPr>
          <a:xfrm>
            <a:off x="914400" y="2377440"/>
            <a:ext cx="10362895" cy="3840480"/>
          </a:xfrm>
          <a:prstGeom prst="rect">
            <a:avLst/>
          </a:prstGeom>
          <a:noFill/>
        </p:spPr>
        <p:txBody>
          <a:bodyPr wrap="square">
            <a:spAutoFit/>
          </a:bodyPr>
          <a:lstStyle/>
          <a:p>
            <a:pPr algn="ctr">
              <a:defRPr sz="1200" b="1">
                <a:solidFill>
                  <a:srgbClr val="0284C7"/>
                </a:solidFill>
                <a:latin typeface="Arial"/>
              </a:defRPr>
            </a:pPr>
            <a:r>
              <a:t>REPÚBLICA BOLIVARIANA DE VENEZUELA • ESTADO MONAGAS</a:t>
            </a:r>
          </a:p>
          <a:p>
            <a:pPr algn="ctr">
              <a:spcAft>
                <a:spcPts val="1400"/>
              </a:spcAft>
              <a:defRPr sz="1500" b="1">
                <a:solidFill>
                  <a:srgbClr val="1E3A8A"/>
                </a:solidFill>
                <a:latin typeface="Arial"/>
              </a:defRPr>
            </a:pPr>
            <a:r>
              <a:t>MOVIMIENTO INDEPENDIENTE GANAMOS TODOS (MIGATO)</a:t>
            </a:r>
          </a:p>
          <a:p>
            <a:pPr algn="ctr">
              <a:spcAft>
                <a:spcPts val="1000"/>
              </a:spcAft>
              <a:defRPr sz="2400" b="1">
                <a:solidFill>
                  <a:srgbClr val="0F172A"/>
                </a:solidFill>
                <a:latin typeface="Arial"/>
              </a:defRPr>
            </a:pPr>
            <a:r>
              <a:t>ARQUITECTURA DE GESTIÓN TERRITORIAL Y PROPUESTA DE FACTIBILIDAD TÉCNICA</a:t>
            </a:r>
          </a:p>
          <a:p>
            <a:pPr algn="ctr">
              <a:spcAft>
                <a:spcPts val="2200"/>
              </a:spcAft>
              <a:defRPr sz="1400" i="1">
                <a:solidFill>
                  <a:srgbClr val="64748B"/>
                </a:solidFill>
                <a:latin typeface="Arial"/>
              </a:defRPr>
            </a:pPr>
            <a:r>
              <a:t>Evaluación Integral de los Cinco Módulos de Mando, Servidor Cloud VPS Privado y Presupuesto Operativo</a:t>
            </a:r>
          </a:p>
          <a:p>
            <a:pPr algn="ctr">
              <a:defRPr sz="1200">
                <a:solidFill>
                  <a:srgbClr val="334155"/>
                </a:solidFill>
                <a:latin typeface="Arial"/>
              </a:defRPr>
            </a:pPr>
            <a:r>
              <a:t>Presentado por el Equipo Técnico de Sistemas y Arquitectura Digital</a:t>
            </a:r>
            <a:br/>
            <a:r>
              <a:t>A la Dirección General de MIGATO • Maturín, Septiembre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Marco Estratégico: Superación del Centralismo Burocrático</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5120640"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4114800"/>
          </a:xfrm>
          <a:prstGeom prst="rect">
            <a:avLst/>
          </a:prstGeom>
          <a:noFill/>
        </p:spPr>
        <p:txBody>
          <a:bodyPr wrap="square">
            <a:spAutoFit/>
          </a:bodyPr>
          <a:lstStyle/>
          <a:p>
            <a:pPr>
              <a:spcAft>
                <a:spcPts val="1200"/>
              </a:spcAft>
              <a:defRPr sz="1500" b="1">
                <a:solidFill>
                  <a:srgbClr val="DC2626"/>
                </a:solidFill>
                <a:latin typeface="Arial"/>
              </a:defRPr>
            </a:pPr>
            <a:r>
              <a:t>⚠️ Limitaciones del Esquema Tradicional</a:t>
            </a:r>
          </a:p>
          <a:p>
            <a:pPr>
              <a:spcAft>
                <a:spcPts val="800"/>
              </a:spcAft>
              <a:defRPr sz="1200">
                <a:solidFill>
                  <a:srgbClr val="334155"/>
                </a:solidFill>
                <a:latin typeface="Arial"/>
              </a:defRPr>
            </a:pPr>
            <a:r>
              <a:t>▪ Precarización de servicios esenciales: fallas sostenidas en la red eléctrica, suministro de agua y vialidad.</a:t>
            </a:r>
          </a:p>
          <a:p>
            <a:pPr>
              <a:spcAft>
                <a:spcPts val="800"/>
              </a:spcAft>
              <a:defRPr sz="1200">
                <a:solidFill>
                  <a:srgbClr val="334155"/>
                </a:solidFill>
                <a:latin typeface="Arial"/>
              </a:defRPr>
            </a:pPr>
            <a:r>
              <a:t>▪ Gestión sin métricas objetivas: ausencia de levantamiento técnico y decisiones basadas en criterios clientelares.</a:t>
            </a:r>
          </a:p>
          <a:p>
            <a:pPr>
              <a:spcAft>
                <a:spcPts val="800"/>
              </a:spcAft>
              <a:defRPr sz="1200">
                <a:solidFill>
                  <a:srgbClr val="334155"/>
                </a:solidFill>
                <a:latin typeface="Arial"/>
              </a:defRPr>
            </a:pPr>
            <a:r>
              <a:t>▪ Riesgos en canales informales: la dispersión en grupos de mensajería compromete la confidencialidad y dificulta la consolidación.</a:t>
            </a:r>
          </a:p>
          <a:p>
            <a:pPr>
              <a:spcAft>
                <a:spcPts val="800"/>
              </a:spcAft>
              <a:defRPr sz="1200">
                <a:solidFill>
                  <a:srgbClr val="334155"/>
                </a:solidFill>
                <a:latin typeface="Arial"/>
              </a:defRPr>
            </a:pPr>
            <a:r>
              <a:t>▪ Vulnerabilidad operativa: exposición de los activistas comunitarios ante revisiones no autorizadas de dispositivos en campo.</a:t>
            </a:r>
          </a:p>
        </p:txBody>
      </p:sp>
      <p:sp>
        <p:nvSpPr>
          <p:cNvPr id="9" name="Rounded Rectangle 8"/>
          <p:cNvSpPr/>
          <p:nvPr/>
        </p:nvSpPr>
        <p:spPr>
          <a:xfrm>
            <a:off x="6217920" y="1645920"/>
            <a:ext cx="5212080" cy="4572000"/>
          </a:xfrm>
          <a:prstGeom prst="roundRect">
            <a:avLst/>
          </a:prstGeom>
          <a:solidFill>
            <a:srgbClr val="FFFF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28800"/>
            <a:ext cx="4663440" cy="4114800"/>
          </a:xfrm>
          <a:prstGeom prst="rect">
            <a:avLst/>
          </a:prstGeom>
          <a:noFill/>
        </p:spPr>
        <p:txBody>
          <a:bodyPr wrap="square">
            <a:spAutoFit/>
          </a:bodyPr>
          <a:lstStyle/>
          <a:p>
            <a:pPr>
              <a:spcAft>
                <a:spcPts val="1200"/>
              </a:spcAft>
              <a:defRPr sz="1500" b="1">
                <a:solidFill>
                  <a:srgbClr val="1E3A8A"/>
                </a:solidFill>
                <a:latin typeface="Arial"/>
              </a:defRPr>
            </a:pPr>
            <a:r>
              <a:t>🏛️ La Propuesta Gerencial de MIGATO</a:t>
            </a:r>
          </a:p>
          <a:p>
            <a:pPr>
              <a:spcAft>
                <a:spcPts val="800"/>
              </a:spcAft>
              <a:defRPr sz="1200">
                <a:solidFill>
                  <a:srgbClr val="334155"/>
                </a:solidFill>
                <a:latin typeface="Arial"/>
              </a:defRPr>
            </a:pPr>
            <a:r>
              <a:t>▪ Estándares corporativos de primer nivel: implementación de orden, método y rigurosidad técnica en la gestión pública.</a:t>
            </a:r>
          </a:p>
          <a:p>
            <a:pPr>
              <a:spcAft>
                <a:spcPts val="800"/>
              </a:spcAft>
              <a:defRPr sz="1200">
                <a:solidFill>
                  <a:srgbClr val="334155"/>
                </a:solidFill>
                <a:latin typeface="Arial"/>
              </a:defRPr>
            </a:pPr>
            <a:r>
              <a:t>▪ Decisiones con respaldo empírico: información georreferenciada y métricas confiables de las comunidades en tiempo real.</a:t>
            </a:r>
          </a:p>
          <a:p>
            <a:pPr>
              <a:spcAft>
                <a:spcPts val="800"/>
              </a:spcAft>
              <a:defRPr sz="1200">
                <a:solidFill>
                  <a:srgbClr val="334155"/>
                </a:solidFill>
                <a:latin typeface="Arial"/>
              </a:defRPr>
            </a:pPr>
            <a:r>
              <a:t>▪ Comunicación estructurada y segura: canales compartimentados por parroquia con trazabilidad institucional.</a:t>
            </a:r>
          </a:p>
          <a:p>
            <a:pPr>
              <a:spcAft>
                <a:spcPts val="800"/>
              </a:spcAft>
              <a:defRPr sz="1200">
                <a:solidFill>
                  <a:srgbClr val="334155"/>
                </a:solidFill>
                <a:latin typeface="Arial"/>
              </a:defRPr>
            </a:pPr>
            <a:r>
              <a:t>▪ Soberanía de la información: bases de datos resguardadas en un servidor cloud dedicado bajo control exclusivo del partido.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Solución Integral: Plataforma Territorial en 5 Módulos</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728655" cy="804672"/>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19072"/>
            <a:ext cx="10332720" cy="658368"/>
          </a:xfrm>
          <a:prstGeom prst="rect">
            <a:avLst/>
          </a:prstGeom>
          <a:noFill/>
        </p:spPr>
        <p:txBody>
          <a:bodyPr wrap="square">
            <a:spAutoFit/>
          </a:bodyPr>
          <a:lstStyle/>
          <a:p>
            <a:pPr>
              <a:defRPr sz="1350" b="1">
                <a:solidFill>
                  <a:srgbClr val="1E3A8A"/>
                </a:solidFill>
                <a:latin typeface="Arial"/>
              </a:defRPr>
            </a:pPr>
            <a:r>
              <a:t>Módulo 1: Despacho Celular Seguro   </a:t>
            </a:r>
          </a:p>
          <a:p>
            <a:pPr>
              <a:defRPr sz="1100">
                <a:solidFill>
                  <a:srgbClr val="334155"/>
                </a:solidFill>
                <a:latin typeface="Arial"/>
              </a:defRPr>
            </a:pPr>
            <a:r>
              <a:t>Consola: /despacho/ • Enlaces cifrados por token web temporal directo al coordinador. Sin contraseñas complejas y con compartimentación territorial.</a:t>
            </a:r>
          </a:p>
        </p:txBody>
      </p:sp>
      <p:sp>
        <p:nvSpPr>
          <p:cNvPr id="9" name="Rounded Rectangle 8"/>
          <p:cNvSpPr/>
          <p:nvPr/>
        </p:nvSpPr>
        <p:spPr>
          <a:xfrm>
            <a:off x="731520" y="2542032"/>
            <a:ext cx="10728655" cy="804672"/>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15184"/>
            <a:ext cx="10332720" cy="658368"/>
          </a:xfrm>
          <a:prstGeom prst="rect">
            <a:avLst/>
          </a:prstGeom>
          <a:noFill/>
        </p:spPr>
        <p:txBody>
          <a:bodyPr wrap="square">
            <a:spAutoFit/>
          </a:bodyPr>
          <a:lstStyle/>
          <a:p>
            <a:pPr>
              <a:defRPr sz="1350" b="1">
                <a:solidFill>
                  <a:srgbClr val="1E3A8A"/>
                </a:solidFill>
                <a:latin typeface="Arial"/>
              </a:defRPr>
            </a:pPr>
            <a:r>
              <a:t>Módulo 2: Censo Territorial y Privacidad   </a:t>
            </a:r>
          </a:p>
          <a:p>
            <a:pPr>
              <a:defRPr sz="1100">
                <a:solidFill>
                  <a:srgbClr val="334155"/>
                </a:solidFill>
                <a:latin typeface="Arial"/>
              </a:defRPr>
            </a:pPr>
            <a:r>
              <a:t>Consola: /carga/ • Protocolo de Cero Residuos en Dispositivo: registra variables cuantitativas de servicios sin almacenar datos personales ni cédulas.</a:t>
            </a:r>
          </a:p>
        </p:txBody>
      </p:sp>
      <p:sp>
        <p:nvSpPr>
          <p:cNvPr id="11" name="Rounded Rectangle 10"/>
          <p:cNvSpPr/>
          <p:nvPr/>
        </p:nvSpPr>
        <p:spPr>
          <a:xfrm>
            <a:off x="731520" y="3438144"/>
            <a:ext cx="10728655" cy="804672"/>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511296"/>
            <a:ext cx="10332720" cy="658368"/>
          </a:xfrm>
          <a:prstGeom prst="rect">
            <a:avLst/>
          </a:prstGeom>
          <a:noFill/>
        </p:spPr>
        <p:txBody>
          <a:bodyPr wrap="square">
            <a:spAutoFit/>
          </a:bodyPr>
          <a:lstStyle/>
          <a:p>
            <a:pPr>
              <a:defRPr sz="1350" b="1">
                <a:solidFill>
                  <a:srgbClr val="1E3A8A"/>
                </a:solidFill>
                <a:latin typeface="Arial"/>
              </a:defRPr>
            </a:pPr>
            <a:r>
              <a:t>Módulo 3: Padrón Electoral y Actas   </a:t>
            </a:r>
          </a:p>
          <a:p>
            <a:pPr>
              <a:defRPr sz="1100">
                <a:solidFill>
                  <a:srgbClr val="334155"/>
                </a:solidFill>
                <a:latin typeface="Arial"/>
              </a:defRPr>
            </a:pPr>
            <a:r>
              <a:t>Consola: /centros-maturin/ • Catálogo de 175 centros y 361 mesas de Maturín. Organización de testigos y respaldo fotográfico de actas y código QR para auditoría interna.</a:t>
            </a:r>
          </a:p>
        </p:txBody>
      </p:sp>
      <p:sp>
        <p:nvSpPr>
          <p:cNvPr id="13" name="Rounded Rectangle 12"/>
          <p:cNvSpPr/>
          <p:nvPr/>
        </p:nvSpPr>
        <p:spPr>
          <a:xfrm>
            <a:off x="731520" y="4334256"/>
            <a:ext cx="10728655" cy="804672"/>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407408"/>
            <a:ext cx="10332720" cy="658368"/>
          </a:xfrm>
          <a:prstGeom prst="rect">
            <a:avLst/>
          </a:prstGeom>
          <a:noFill/>
        </p:spPr>
        <p:txBody>
          <a:bodyPr wrap="square">
            <a:spAutoFit/>
          </a:bodyPr>
          <a:lstStyle/>
          <a:p>
            <a:pPr>
              <a:defRPr sz="1350" b="1">
                <a:solidFill>
                  <a:srgbClr val="1E3A8A"/>
                </a:solidFill>
                <a:latin typeface="Arial"/>
              </a:defRPr>
            </a:pPr>
            <a:r>
              <a:t>Módulo 4: Cartografía Tridimensional   </a:t>
            </a:r>
          </a:p>
          <a:p>
            <a:pPr>
              <a:defRPr sz="1100">
                <a:solidFill>
                  <a:srgbClr val="334155"/>
                </a:solidFill>
                <a:latin typeface="Arial"/>
              </a:defRPr>
            </a:pPr>
            <a:r>
              <a:t>Consola: /earth-monagas/ • Consola 3D de vialidad, relieve y servicios con filtro de focalización territorial para mesas de planificación estratégica.</a:t>
            </a:r>
          </a:p>
        </p:txBody>
      </p:sp>
      <p:sp>
        <p:nvSpPr>
          <p:cNvPr id="15" name="Rounded Rectangle 14"/>
          <p:cNvSpPr/>
          <p:nvPr/>
        </p:nvSpPr>
        <p:spPr>
          <a:xfrm>
            <a:off x="731520" y="5230368"/>
            <a:ext cx="10728655" cy="804672"/>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303520"/>
            <a:ext cx="10332720" cy="658368"/>
          </a:xfrm>
          <a:prstGeom prst="rect">
            <a:avLst/>
          </a:prstGeom>
          <a:noFill/>
        </p:spPr>
        <p:txBody>
          <a:bodyPr wrap="square">
            <a:spAutoFit/>
          </a:bodyPr>
          <a:lstStyle/>
          <a:p>
            <a:pPr>
              <a:defRPr sz="1350" b="1">
                <a:solidFill>
                  <a:srgbClr val="1E3A8A"/>
                </a:solidFill>
                <a:latin typeface="Arial"/>
              </a:defRPr>
            </a:pPr>
            <a:r>
              <a:t>Módulo 5: Diagnóstico de Salud Regional   </a:t>
            </a:r>
          </a:p>
          <a:p>
            <a:pPr>
              <a:defRPr sz="1100">
                <a:solidFill>
                  <a:srgbClr val="334155"/>
                </a:solidFill>
                <a:latin typeface="Arial"/>
              </a:defRPr>
            </a:pPr>
            <a:r>
              <a:t>Consola: /salud-monagas/ • Supervisión técnica de 84 centros asistenciales: plantas eléctricas, agua, quirófanos y base fehaciente para planes de gobierno.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Módulos 1 y 2: Coordinación Parroquial y Protección de Datos</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5120640"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4114800"/>
          </a:xfrm>
          <a:prstGeom prst="rect">
            <a:avLst/>
          </a:prstGeom>
          <a:noFill/>
        </p:spPr>
        <p:txBody>
          <a:bodyPr wrap="square">
            <a:spAutoFit/>
          </a:bodyPr>
          <a:lstStyle/>
          <a:p>
            <a:pPr>
              <a:spcAft>
                <a:spcPts val="1200"/>
              </a:spcAft>
              <a:defRPr sz="1500" b="1">
                <a:solidFill>
                  <a:srgbClr val="1E3A8A"/>
                </a:solidFill>
                <a:latin typeface="Arial"/>
              </a:defRPr>
            </a:pPr>
            <a:r>
              <a:t>📲 Módulo 1: Despacho Celular Seguro</a:t>
            </a:r>
          </a:p>
          <a:p>
            <a:pPr>
              <a:spcAft>
                <a:spcPts val="800"/>
              </a:spcAft>
              <a:defRPr sz="1150">
                <a:solidFill>
                  <a:srgbClr val="334155"/>
                </a:solidFill>
                <a:latin typeface="Arial"/>
              </a:defRPr>
            </a:pPr>
            <a:r>
              <a:t>▪ Acceso Instantáneo por Token Web: enlaces temporales cifrados enviados directamente al coordinador; ingreso inmediato sin necesidad de memorizar contraseñas.</a:t>
            </a:r>
          </a:p>
          <a:p>
            <a:pPr>
              <a:spcAft>
                <a:spcPts val="800"/>
              </a:spcAft>
              <a:defRPr sz="1150">
                <a:solidFill>
                  <a:srgbClr val="334155"/>
                </a:solidFill>
                <a:latin typeface="Arial"/>
              </a:defRPr>
            </a:pPr>
            <a:r>
              <a:t>▪ Compartimentación Territorial: cada enlace opera exclusivamente en su área asignada, garantizando estricta segmentación de responsabilidades.</a:t>
            </a:r>
          </a:p>
          <a:p>
            <a:pPr>
              <a:spcAft>
                <a:spcPts val="800"/>
              </a:spcAft>
              <a:defRPr sz="1150">
                <a:solidFill>
                  <a:srgbClr val="334155"/>
                </a:solidFill>
                <a:latin typeface="Arial"/>
              </a:defRPr>
            </a:pPr>
            <a:r>
              <a:t>▪ Revocación Inmediata de Credenciales: ante cualquier relevo de personal, la credencial se desactiva desde la consola central sin interrumpir el servicio.</a:t>
            </a:r>
          </a:p>
          <a:p>
            <a:pPr>
              <a:spcAft>
                <a:spcPts val="800"/>
              </a:spcAft>
              <a:defRPr sz="1150">
                <a:solidFill>
                  <a:srgbClr val="334155"/>
                </a:solidFill>
                <a:latin typeface="Arial"/>
              </a:defRPr>
            </a:pPr>
            <a:r>
              <a:t>▪ Compatibilidad Universal: funciona directamente en navegadores móviles estándar sin requerir instalación de aplicaciones adicionales.</a:t>
            </a:r>
          </a:p>
        </p:txBody>
      </p:sp>
      <p:sp>
        <p:nvSpPr>
          <p:cNvPr id="9" name="Rounded Rectangle 8"/>
          <p:cNvSpPr/>
          <p:nvPr/>
        </p:nvSpPr>
        <p:spPr>
          <a:xfrm>
            <a:off x="6217920" y="1645920"/>
            <a:ext cx="5212080" cy="4572000"/>
          </a:xfrm>
          <a:prstGeom prst="roundRect">
            <a:avLst/>
          </a:prstGeom>
          <a:solidFill>
            <a:srgbClr val="FFFF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28800"/>
            <a:ext cx="4663440" cy="4114800"/>
          </a:xfrm>
          <a:prstGeom prst="rect">
            <a:avLst/>
          </a:prstGeom>
          <a:noFill/>
        </p:spPr>
        <p:txBody>
          <a:bodyPr wrap="square">
            <a:spAutoFit/>
          </a:bodyPr>
          <a:lstStyle/>
          <a:p>
            <a:pPr>
              <a:spcAft>
                <a:spcPts val="1200"/>
              </a:spcAft>
              <a:defRPr sz="1500" b="1">
                <a:solidFill>
                  <a:srgbClr val="1E3A8A"/>
                </a:solidFill>
                <a:latin typeface="Arial"/>
              </a:defRPr>
            </a:pPr>
            <a:r>
              <a:t>🛡️ Módulo 2: Censo Territorial y Privacidad</a:t>
            </a:r>
          </a:p>
          <a:p>
            <a:pPr>
              <a:spcAft>
                <a:spcPts val="800"/>
              </a:spcAft>
              <a:defRPr sz="1150">
                <a:solidFill>
                  <a:srgbClr val="334155"/>
                </a:solidFill>
                <a:latin typeface="Arial"/>
              </a:defRPr>
            </a:pPr>
            <a:r>
              <a:t>▪ Protección de Identidad Ciudadana: por directriz institucional, el sistema no solicita nombres, cédulas ni números telefónicos de los vecinos censados.</a:t>
            </a:r>
          </a:p>
          <a:p>
            <a:pPr>
              <a:spcAft>
                <a:spcPts val="800"/>
              </a:spcAft>
              <a:defRPr sz="1150">
                <a:solidFill>
                  <a:srgbClr val="334155"/>
                </a:solidFill>
                <a:latin typeface="Arial"/>
              </a:defRPr>
            </a:pPr>
            <a:r>
              <a:t>▪ Diagnóstico de Servicios Básicos: levantamiento riguroso de familias, viviendas y fallas críticas en suministro eléctrico, agua potable y vialidad.</a:t>
            </a:r>
          </a:p>
          <a:p>
            <a:pPr>
              <a:spcAft>
                <a:spcPts val="800"/>
              </a:spcAft>
              <a:defRPr sz="1150">
                <a:solidFill>
                  <a:srgbClr val="334155"/>
                </a:solidFill>
                <a:latin typeface="Arial"/>
              </a:defRPr>
            </a:pPr>
            <a:r>
              <a:t>▪ Protocolo Zero-Byte Storage: al presionar enviar, los datos se transmiten al servidor central vía HTTPS y el formulario se restablece. No queda caché en el celular.</a:t>
            </a:r>
          </a:p>
          <a:p>
            <a:pPr>
              <a:spcAft>
                <a:spcPts val="800"/>
              </a:spcAft>
              <a:defRPr sz="1150">
                <a:solidFill>
                  <a:srgbClr val="334155"/>
                </a:solidFill>
                <a:latin typeface="Arial"/>
              </a:defRPr>
            </a:pPr>
            <a:r>
              <a:t>▪ Tranquilidad Operativa: blindaje total del activista frente a revisiones no autorizadas de dispositivos en la vía pública.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Módulo 3: Padrón Electoral, Centros de Votación y Resguardo de Actas</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3413455"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3047695" cy="4114800"/>
          </a:xfrm>
          <a:prstGeom prst="rect">
            <a:avLst/>
          </a:prstGeom>
          <a:noFill/>
        </p:spPr>
        <p:txBody>
          <a:bodyPr wrap="square">
            <a:spAutoFit/>
          </a:bodyPr>
          <a:lstStyle/>
          <a:p>
            <a:pPr>
              <a:spcAft>
                <a:spcPts val="1200"/>
              </a:spcAft>
              <a:defRPr sz="1400" b="1">
                <a:solidFill>
                  <a:srgbClr val="1E3A8A"/>
                </a:solidFill>
                <a:latin typeface="Arial"/>
              </a:defRPr>
            </a:pPr>
            <a:r>
              <a:t>🗺️ Catálogo de Centros</a:t>
            </a:r>
          </a:p>
          <a:p>
            <a:pPr>
              <a:spcAft>
                <a:spcPts val="800"/>
              </a:spcAft>
              <a:defRPr sz="1100">
                <a:solidFill>
                  <a:srgbClr val="334155"/>
                </a:solidFill>
                <a:latin typeface="Arial"/>
              </a:defRPr>
            </a:pPr>
            <a:r>
              <a:t>▪ Georreferenciación completa de 175 centros y 361 mesas electorales del Municipio Maturín.</a:t>
            </a:r>
          </a:p>
          <a:p>
            <a:pPr>
              <a:spcAft>
                <a:spcPts val="800"/>
              </a:spcAft>
              <a:defRPr sz="1100">
                <a:solidFill>
                  <a:srgbClr val="334155"/>
                </a:solidFill>
                <a:latin typeface="Arial"/>
              </a:defRPr>
            </a:pPr>
            <a:r>
              <a:t>▪ Identificación prioritaria de los 40 centros estratégicos que concentran más del 60% de los electores.</a:t>
            </a:r>
          </a:p>
          <a:p>
            <a:pPr>
              <a:spcAft>
                <a:spcPts val="800"/>
              </a:spcAft>
              <a:defRPr sz="1100">
                <a:solidFill>
                  <a:srgbClr val="334155"/>
                </a:solidFill>
                <a:latin typeface="Arial"/>
              </a:defRPr>
            </a:pPr>
            <a:r>
              <a:t>▪ Mapeo de accesos viales y distancias logísticas para optimizar la movilización.</a:t>
            </a:r>
          </a:p>
        </p:txBody>
      </p:sp>
      <p:sp>
        <p:nvSpPr>
          <p:cNvPr id="9" name="Rounded Rectangle 8"/>
          <p:cNvSpPr/>
          <p:nvPr/>
        </p:nvSpPr>
        <p:spPr>
          <a:xfrm>
            <a:off x="4389120" y="1645920"/>
            <a:ext cx="3413455"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828800"/>
            <a:ext cx="3047695" cy="4114800"/>
          </a:xfrm>
          <a:prstGeom prst="rect">
            <a:avLst/>
          </a:prstGeom>
          <a:noFill/>
        </p:spPr>
        <p:txBody>
          <a:bodyPr wrap="square">
            <a:spAutoFit/>
          </a:bodyPr>
          <a:lstStyle/>
          <a:p>
            <a:pPr>
              <a:spcAft>
                <a:spcPts val="1200"/>
              </a:spcAft>
              <a:defRPr sz="1400" b="1">
                <a:solidFill>
                  <a:srgbClr val="1E3A8A"/>
                </a:solidFill>
                <a:latin typeface="Arial"/>
              </a:defRPr>
            </a:pPr>
            <a:r>
              <a:t>👥 Estructura de Testigos</a:t>
            </a:r>
          </a:p>
          <a:p>
            <a:pPr>
              <a:spcAft>
                <a:spcPts val="800"/>
              </a:spcAft>
              <a:defRPr sz="1100">
                <a:solidFill>
                  <a:srgbClr val="334155"/>
                </a:solidFill>
                <a:latin typeface="Arial"/>
              </a:defRPr>
            </a:pPr>
            <a:r>
              <a:t>▪ Registro y acreditación organizada de testigos principales y suplentes por mesa electoral.</a:t>
            </a:r>
          </a:p>
          <a:p>
            <a:pPr>
              <a:spcAft>
                <a:spcPts val="800"/>
              </a:spcAft>
              <a:defRPr sz="1100">
                <a:solidFill>
                  <a:srgbClr val="334155"/>
                </a:solidFill>
                <a:latin typeface="Arial"/>
              </a:defRPr>
            </a:pPr>
            <a:r>
              <a:t>▪ Segmentación de labores de asistencia ciudadana para adultos mayores y votantes jóvenes.</a:t>
            </a:r>
          </a:p>
          <a:p>
            <a:pPr>
              <a:spcAft>
                <a:spcPts val="800"/>
              </a:spcAft>
              <a:defRPr sz="1100">
                <a:solidFill>
                  <a:srgbClr val="334155"/>
                </a:solidFill>
                <a:latin typeface="Arial"/>
              </a:defRPr>
            </a:pPr>
            <a:r>
              <a:t>▪ Canal de reporte de incidencias y apertura de mesas en comunicación con la Sala Situacional.</a:t>
            </a:r>
          </a:p>
        </p:txBody>
      </p:sp>
      <p:sp>
        <p:nvSpPr>
          <p:cNvPr id="11" name="Rounded Rectangle 10"/>
          <p:cNvSpPr/>
          <p:nvPr/>
        </p:nvSpPr>
        <p:spPr>
          <a:xfrm>
            <a:off x="8046720" y="1645920"/>
            <a:ext cx="3413455"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828800"/>
            <a:ext cx="3047695" cy="4114800"/>
          </a:xfrm>
          <a:prstGeom prst="rect">
            <a:avLst/>
          </a:prstGeom>
          <a:noFill/>
        </p:spPr>
        <p:txBody>
          <a:bodyPr wrap="square">
            <a:spAutoFit/>
          </a:bodyPr>
          <a:lstStyle/>
          <a:p>
            <a:pPr>
              <a:spcAft>
                <a:spcPts val="1200"/>
              </a:spcAft>
              <a:defRPr sz="1400" b="1">
                <a:solidFill>
                  <a:srgbClr val="1E3A8A"/>
                </a:solidFill>
                <a:latin typeface="Arial"/>
              </a:defRPr>
            </a:pPr>
            <a:r>
              <a:t>📄 Archivo de Evidencia</a:t>
            </a:r>
          </a:p>
          <a:p>
            <a:pPr>
              <a:spcAft>
                <a:spcPts val="800"/>
              </a:spcAft>
              <a:defRPr sz="1100">
                <a:solidFill>
                  <a:srgbClr val="334155"/>
                </a:solidFill>
                <a:latin typeface="Arial"/>
              </a:defRPr>
            </a:pPr>
            <a:r>
              <a:t>▪ Carga ordenada de resultados numéricos por mesa emitida por los testigos del partido.</a:t>
            </a:r>
          </a:p>
          <a:p>
            <a:pPr>
              <a:spcAft>
                <a:spcPts val="800"/>
              </a:spcAft>
              <a:defRPr sz="1100">
                <a:solidFill>
                  <a:srgbClr val="334155"/>
                </a:solidFill>
                <a:latin typeface="Arial"/>
              </a:defRPr>
            </a:pPr>
            <a:r>
              <a:t>▪ Almacenamiento de respaldo digital del acta física y comprobante oficial.</a:t>
            </a:r>
          </a:p>
          <a:p>
            <a:pPr>
              <a:spcAft>
                <a:spcPts val="800"/>
              </a:spcAft>
              <a:defRPr sz="1100">
                <a:solidFill>
                  <a:srgbClr val="334155"/>
                </a:solidFill>
                <a:latin typeface="Arial"/>
              </a:defRPr>
            </a:pPr>
            <a:r>
              <a:t>▪ Registro fotográfico del código QR para auditoría y cotejo interno de la organización.</a:t>
            </a:r>
          </a:p>
          <a:p>
            <a:pPr>
              <a:spcAft>
                <a:spcPts val="800"/>
              </a:spcAft>
              <a:defRPr sz="1100">
                <a:solidFill>
                  <a:srgbClr val="334155"/>
                </a:solidFill>
                <a:latin typeface="Arial"/>
              </a:defRPr>
            </a:pPr>
            <a:r>
              <a:t>▪ Sin intervenir ni suplantar las competencias del CNE.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Módulos 4 y 5: Cartografía Tridimensional y Auditoría Asistencial</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5120640"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4114800"/>
          </a:xfrm>
          <a:prstGeom prst="rect">
            <a:avLst/>
          </a:prstGeom>
          <a:noFill/>
        </p:spPr>
        <p:txBody>
          <a:bodyPr wrap="square">
            <a:spAutoFit/>
          </a:bodyPr>
          <a:lstStyle/>
          <a:p>
            <a:pPr>
              <a:spcAft>
                <a:spcPts val="1200"/>
              </a:spcAft>
              <a:defRPr sz="1450" b="1">
                <a:solidFill>
                  <a:srgbClr val="1E3A8A"/>
                </a:solidFill>
                <a:latin typeface="Arial"/>
              </a:defRPr>
            </a:pPr>
            <a:r>
              <a:t>🌐 Cartografía 3D de Infraestructura (/earth-monagas/)</a:t>
            </a:r>
          </a:p>
          <a:p>
            <a:pPr>
              <a:spcAft>
                <a:spcPts val="800"/>
              </a:spcAft>
              <a:defRPr sz="1150">
                <a:solidFill>
                  <a:srgbClr val="334155"/>
                </a:solidFill>
                <a:latin typeface="Arial"/>
              </a:defRPr>
            </a:pPr>
            <a:r>
              <a:t>▪ Análisis Geoespacial Interactivo: representación tridimensional de relieve, vialidad, comunidades y equipamiento de servicios en la entidad.</a:t>
            </a:r>
          </a:p>
          <a:p>
            <a:pPr>
              <a:spcAft>
                <a:spcPts val="800"/>
              </a:spcAft>
              <a:defRPr sz="1150">
                <a:solidFill>
                  <a:srgbClr val="334155"/>
                </a:solidFill>
                <a:latin typeface="Arial"/>
              </a:defRPr>
            </a:pPr>
            <a:r>
              <a:t>▪ Herramienta de Focalización Territorial: filtro visual que atenúa suavemente las zonas periféricas para concentrar el análisis en la parroquia de interés.</a:t>
            </a:r>
          </a:p>
          <a:p>
            <a:pPr>
              <a:spcAft>
                <a:spcPts val="800"/>
              </a:spcAft>
              <a:defRPr sz="1150">
                <a:solidFill>
                  <a:srgbClr val="334155"/>
                </a:solidFill>
                <a:latin typeface="Arial"/>
              </a:defRPr>
            </a:pPr>
            <a:r>
              <a:t>▪ Planificación de Rutas y Despliegue: medición precisa de distancias y estimación de tiempos de traslado para jornadas institucionales de trabajo.</a:t>
            </a:r>
          </a:p>
          <a:p>
            <a:pPr>
              <a:spcAft>
                <a:spcPts val="800"/>
              </a:spcAft>
              <a:defRPr sz="1150">
                <a:solidFill>
                  <a:srgbClr val="334155"/>
                </a:solidFill>
                <a:latin typeface="Arial"/>
              </a:defRPr>
            </a:pPr>
            <a:r>
              <a:t>▪ Optimizado para Sala de Mando: interfaz adaptada para proyección en pantallas corporativas de alta definición.</a:t>
            </a:r>
          </a:p>
        </p:txBody>
      </p:sp>
      <p:sp>
        <p:nvSpPr>
          <p:cNvPr id="9" name="Rounded Rectangle 8"/>
          <p:cNvSpPr/>
          <p:nvPr/>
        </p:nvSpPr>
        <p:spPr>
          <a:xfrm>
            <a:off x="6217920" y="1645920"/>
            <a:ext cx="5212080" cy="4572000"/>
          </a:xfrm>
          <a:prstGeom prst="roundRect">
            <a:avLst/>
          </a:prstGeom>
          <a:solidFill>
            <a:srgbClr val="FFFF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28800"/>
            <a:ext cx="4663440" cy="4114800"/>
          </a:xfrm>
          <a:prstGeom prst="rect">
            <a:avLst/>
          </a:prstGeom>
          <a:noFill/>
        </p:spPr>
        <p:txBody>
          <a:bodyPr wrap="square">
            <a:spAutoFit/>
          </a:bodyPr>
          <a:lstStyle/>
          <a:p>
            <a:pPr>
              <a:spcAft>
                <a:spcPts val="1200"/>
              </a:spcAft>
              <a:defRPr sz="1450" b="1">
                <a:solidFill>
                  <a:srgbClr val="1E3A8A"/>
                </a:solidFill>
                <a:latin typeface="Arial"/>
              </a:defRPr>
            </a:pPr>
            <a:r>
              <a:t>🏥 Diagnóstico de la Red de Salud (/salud-monagas/)</a:t>
            </a:r>
          </a:p>
          <a:p>
            <a:pPr>
              <a:spcAft>
                <a:spcPts val="800"/>
              </a:spcAft>
              <a:defRPr sz="1150">
                <a:solidFill>
                  <a:srgbClr val="334155"/>
                </a:solidFill>
                <a:latin typeface="Arial"/>
              </a:defRPr>
            </a:pPr>
            <a:r>
              <a:t>▪ Supervisión Integral de 84 Centros: monitoreo técnico de hospitales universitarios, ambulatorios urbanos, rurales y centros integrales.</a:t>
            </a:r>
          </a:p>
          <a:p>
            <a:pPr>
              <a:spcAft>
                <a:spcPts val="800"/>
              </a:spcAft>
              <a:defRPr sz="1150">
                <a:solidFill>
                  <a:srgbClr val="334155"/>
                </a:solidFill>
                <a:latin typeface="Arial"/>
              </a:defRPr>
            </a:pPr>
            <a:r>
              <a:t>▪ Estado de Servicios Críticos: operatividad de generadores eléctricos de emergencia, suministro continuo de agua y salas quirúrgicas.</a:t>
            </a:r>
          </a:p>
          <a:p>
            <a:pPr>
              <a:spcAft>
                <a:spcPts val="800"/>
              </a:spcAft>
              <a:defRPr sz="1150">
                <a:solidFill>
                  <a:srgbClr val="334155"/>
                </a:solidFill>
                <a:latin typeface="Arial"/>
              </a:defRPr>
            </a:pPr>
            <a:r>
              <a:t>▪ Red de Referencia y Traslado: registro de las rutas de derivación de pacientes cuando la capacidad de resolución local se ve superada.</a:t>
            </a:r>
          </a:p>
          <a:p>
            <a:pPr>
              <a:spcAft>
                <a:spcPts val="800"/>
              </a:spcAft>
              <a:defRPr sz="1150">
                <a:solidFill>
                  <a:srgbClr val="334155"/>
                </a:solidFill>
                <a:latin typeface="Arial"/>
              </a:defRPr>
            </a:pPr>
            <a:r>
              <a:t>▪ Fundamento para Políticas Públicas: base de datos auditable que sustenta propuestas de rehabilitación sanitaria con criterios de ingeniería.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Seguridad de la Información y Servidor Cloud VPS Dedicado</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5212080" cy="2057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28800"/>
            <a:ext cx="4754880" cy="1691640"/>
          </a:xfrm>
          <a:prstGeom prst="rect">
            <a:avLst/>
          </a:prstGeom>
          <a:noFill/>
        </p:spPr>
        <p:txBody>
          <a:bodyPr wrap="square">
            <a:spAutoFit/>
          </a:bodyPr>
          <a:lstStyle/>
          <a:p>
            <a:pPr>
              <a:spcAft>
                <a:spcPts val="600"/>
              </a:spcAft>
              <a:defRPr sz="1400" b="1">
                <a:solidFill>
                  <a:srgbClr val="1E3A8A"/>
                </a:solidFill>
                <a:latin typeface="Arial"/>
              </a:defRPr>
            </a:pPr>
            <a:r>
              <a:t>🔒 Cifrado SSL/TLS de 256 Bits</a:t>
            </a:r>
          </a:p>
          <a:p>
            <a:pPr>
              <a:defRPr sz="1150">
                <a:solidFill>
                  <a:srgbClr val="334155"/>
                </a:solidFill>
                <a:latin typeface="Arial"/>
              </a:defRPr>
            </a:pPr>
            <a:r>
              <a:t>Encriptación completa de extremo a extremo en todas las sesiones web, impidiendo la intercepción de tráfico o fuga de datos en redes públicas o conexiones móviles.</a:t>
            </a:r>
          </a:p>
        </p:txBody>
      </p:sp>
      <p:sp>
        <p:nvSpPr>
          <p:cNvPr id="9" name="Rounded Rectangle 8"/>
          <p:cNvSpPr/>
          <p:nvPr/>
        </p:nvSpPr>
        <p:spPr>
          <a:xfrm>
            <a:off x="6217920" y="1645920"/>
            <a:ext cx="5212080" cy="2057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828800"/>
            <a:ext cx="4754880" cy="1691640"/>
          </a:xfrm>
          <a:prstGeom prst="rect">
            <a:avLst/>
          </a:prstGeom>
          <a:noFill/>
        </p:spPr>
        <p:txBody>
          <a:bodyPr wrap="square">
            <a:spAutoFit/>
          </a:bodyPr>
          <a:lstStyle/>
          <a:p>
            <a:pPr>
              <a:spcAft>
                <a:spcPts val="600"/>
              </a:spcAft>
              <a:defRPr sz="1400" b="1">
                <a:solidFill>
                  <a:srgbClr val="1E3A8A"/>
                </a:solidFill>
                <a:latin typeface="Arial"/>
              </a:defRPr>
            </a:pPr>
            <a:r>
              <a:t>🛡️ Auditoría de Vulnerabilidades</a:t>
            </a:r>
          </a:p>
          <a:p>
            <a:pPr>
              <a:defRPr sz="1150">
                <a:solidFill>
                  <a:srgbClr val="334155"/>
                </a:solidFill>
                <a:latin typeface="Arial"/>
              </a:defRPr>
            </a:pPr>
            <a:r>
              <a:t>Cierre estricto de puertos no esenciales, filtrado de conexiones mediante reglas iptables y mitigación automatizada de intentos de intrusión repetitivos (Fail2ban).</a:t>
            </a:r>
          </a:p>
        </p:txBody>
      </p:sp>
      <p:sp>
        <p:nvSpPr>
          <p:cNvPr id="11" name="Rounded Rectangle 10"/>
          <p:cNvSpPr/>
          <p:nvPr/>
        </p:nvSpPr>
        <p:spPr>
          <a:xfrm>
            <a:off x="731520" y="3931920"/>
            <a:ext cx="5212080" cy="2057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754880" cy="1691640"/>
          </a:xfrm>
          <a:prstGeom prst="rect">
            <a:avLst/>
          </a:prstGeom>
          <a:noFill/>
        </p:spPr>
        <p:txBody>
          <a:bodyPr wrap="square">
            <a:spAutoFit/>
          </a:bodyPr>
          <a:lstStyle/>
          <a:p>
            <a:pPr>
              <a:spcAft>
                <a:spcPts val="600"/>
              </a:spcAft>
              <a:defRPr sz="1400" b="1">
                <a:solidFill>
                  <a:srgbClr val="1E3A8A"/>
                </a:solidFill>
                <a:latin typeface="Arial"/>
              </a:defRPr>
            </a:pPr>
            <a:r>
              <a:t>⚡ Pruebas de Estrés y Concurrencia</a:t>
            </a:r>
          </a:p>
          <a:p>
            <a:pPr>
              <a:defRPr sz="1150">
                <a:solidFill>
                  <a:srgbClr val="334155"/>
                </a:solidFill>
                <a:latin typeface="Arial"/>
              </a:defRPr>
            </a:pPr>
            <a:r>
              <a:t>Simulaciones de alta demanda de tráfico para certificar que el servidor mantenga tiempos de respuesta óptimos (menores a 1 segundo) durante jornadas intensas de carga.</a:t>
            </a:r>
          </a:p>
        </p:txBody>
      </p:sp>
      <p:sp>
        <p:nvSpPr>
          <p:cNvPr id="13" name="Rounded Rectangle 12"/>
          <p:cNvSpPr/>
          <p:nvPr/>
        </p:nvSpPr>
        <p:spPr>
          <a:xfrm>
            <a:off x="6217920" y="3931920"/>
            <a:ext cx="5212080" cy="2057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54880" cy="1691640"/>
          </a:xfrm>
          <a:prstGeom prst="rect">
            <a:avLst/>
          </a:prstGeom>
          <a:noFill/>
        </p:spPr>
        <p:txBody>
          <a:bodyPr wrap="square">
            <a:spAutoFit/>
          </a:bodyPr>
          <a:lstStyle/>
          <a:p>
            <a:pPr>
              <a:spcAft>
                <a:spcPts val="600"/>
              </a:spcAft>
              <a:defRPr sz="1400" b="1">
                <a:solidFill>
                  <a:srgbClr val="1E3A8A"/>
                </a:solidFill>
                <a:latin typeface="Arial"/>
              </a:defRPr>
            </a:pPr>
            <a:r>
              <a:t>💾 Respaldos Automatizados Fuera de Línea</a:t>
            </a:r>
          </a:p>
          <a:p>
            <a:pPr>
              <a:defRPr sz="1150">
                <a:solidFill>
                  <a:srgbClr val="334155"/>
                </a:solidFill>
                <a:latin typeface="Arial"/>
              </a:defRPr>
            </a:pPr>
            <a:r>
              <a:t>Generación periódica de copias de seguridad encriptadas fuera del servidor principal para asegurar la continuidad del servicio ante cualquier eventualidad técnica.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Estudio Económico y Presupuesto de Inversión: Fase 1</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00200"/>
            <a:ext cx="10728655" cy="777240"/>
          </a:xfrm>
          <a:prstGeom prst="roundRect">
            <a:avLst/>
          </a:prstGeom>
          <a:solidFill>
            <a:srgbClr val="E0F2FE"/>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45920"/>
            <a:ext cx="10362895" cy="685800"/>
          </a:xfrm>
          <a:prstGeom prst="rect">
            <a:avLst/>
          </a:prstGeom>
          <a:noFill/>
        </p:spPr>
        <p:txBody>
          <a:bodyPr wrap="square">
            <a:spAutoFit/>
          </a:bodyPr>
          <a:lstStyle/>
          <a:p>
            <a:pPr algn="ctr">
              <a:defRPr sz="1800" b="1">
                <a:solidFill>
                  <a:srgbClr val="1E3A8A"/>
                </a:solidFill>
                <a:latin typeface="Arial"/>
              </a:defRPr>
            </a:pPr>
            <a:r>
              <a:t>Presupuesto Solicitado: ~$24.50 USD / mes   |   $294.00 USD / AÑO TOTAL</a:t>
            </a:r>
          </a:p>
          <a:p>
            <a:pPr algn="ctr">
              <a:defRPr sz="1100">
                <a:solidFill>
                  <a:srgbClr val="334155"/>
                </a:solidFill>
                <a:latin typeface="Arial"/>
              </a:defRPr>
            </a:pPr>
            <a:r>
              <a:t>Inversión exclusiva en infraestructura de nube • Honorarios de desarrollo provistos como aporte técnico ($0.00)</a:t>
            </a:r>
          </a:p>
        </p:txBody>
      </p:sp>
      <p:graphicFrame>
        <p:nvGraphicFramePr>
          <p:cNvPr id="9" name="Table 8"/>
          <p:cNvGraphicFramePr>
            <a:graphicFrameLocks noGrp="1"/>
          </p:cNvGraphicFramePr>
          <p:nvPr/>
        </p:nvGraphicFramePr>
        <p:xfrm>
          <a:off x="731520" y="2560320"/>
          <a:ext cx="10728655" cy="3474720"/>
        </p:xfrm>
        <a:graphic>
          <a:graphicData uri="http://schemas.openxmlformats.org/drawingml/2006/table">
            <a:tbl>
              <a:tblPr firstRow="1" bandRow="1">
                <a:tableStyleId>{5C22544A-7EE6-4342-B048-85BDC9FD1C3A}</a:tableStyleId>
              </a:tblPr>
              <a:tblGrid>
                <a:gridCol w="2926080"/>
                <a:gridCol w="4693615"/>
                <a:gridCol w="1554480"/>
                <a:gridCol w="1554480"/>
              </a:tblGrid>
              <a:tr h="579120">
                <a:tc>
                  <a:txBody>
                    <a:bodyPr/>
                    <a:lstStyle/>
                    <a:p>
                      <a:pPr>
                        <a:defRPr b="1" sz="1150">
                          <a:solidFill>
                            <a:srgbClr val="FFFFFF"/>
                          </a:solidFill>
                        </a:defRPr>
                      </a:pPr>
                      <a:r>
                        <a:t>Componente de Infraestructura</a:t>
                      </a:r>
                    </a:p>
                  </a:txBody>
                  <a:tcPr>
                    <a:solidFill>
                      <a:srgbClr val="1E3A8A"/>
                    </a:solidFill>
                  </a:tcPr>
                </a:tc>
                <a:tc>
                  <a:txBody>
                    <a:bodyPr/>
                    <a:lstStyle/>
                    <a:p>
                      <a:pPr>
                        <a:defRPr b="1" sz="1150">
                          <a:solidFill>
                            <a:srgbClr val="FFFFFF"/>
                          </a:solidFill>
                        </a:defRPr>
                      </a:pPr>
                      <a:r>
                        <a:t>Especificación Técnica Mínima</a:t>
                      </a:r>
                    </a:p>
                  </a:txBody>
                  <a:tcPr>
                    <a:solidFill>
                      <a:srgbClr val="1E3A8A"/>
                    </a:solidFill>
                  </a:tcPr>
                </a:tc>
                <a:tc>
                  <a:txBody>
                    <a:bodyPr/>
                    <a:lstStyle/>
                    <a:p>
                      <a:pPr algn="ctr">
                        <a:defRPr b="1" sz="1150">
                          <a:solidFill>
                            <a:srgbClr val="FFFFFF"/>
                          </a:solidFill>
                        </a:defRPr>
                      </a:pPr>
                      <a:r>
                        <a:t>Costo Mensual</a:t>
                      </a:r>
                    </a:p>
                  </a:txBody>
                  <a:tcPr>
                    <a:solidFill>
                      <a:srgbClr val="1E3A8A"/>
                    </a:solidFill>
                  </a:tcPr>
                </a:tc>
                <a:tc>
                  <a:txBody>
                    <a:bodyPr/>
                    <a:lstStyle/>
                    <a:p>
                      <a:pPr algn="ctr">
                        <a:defRPr b="1" sz="1150">
                          <a:solidFill>
                            <a:srgbClr val="FFFFFF"/>
                          </a:solidFill>
                        </a:defRPr>
                      </a:pPr>
                      <a:r>
                        <a:t>Costo Anual</a:t>
                      </a:r>
                    </a:p>
                  </a:txBody>
                  <a:tcPr>
                    <a:solidFill>
                      <a:srgbClr val="1E3A8A"/>
                    </a:solidFill>
                  </a:tcPr>
                </a:tc>
              </a:tr>
              <a:tr h="579120">
                <a:tc>
                  <a:txBody>
                    <a:bodyPr/>
                    <a:lstStyle/>
                    <a:p>
                      <a:pPr>
                        <a:defRPr sz="1100" b="1">
                          <a:solidFill>
                            <a:srgbClr val="0F172A"/>
                          </a:solidFill>
                          <a:latin typeface="Arial"/>
                        </a:defRPr>
                      </a:pPr>
                      <a:r>
                        <a:t>Servidor Cloud VPS Dedicado</a:t>
                      </a:r>
                    </a:p>
                  </a:txBody>
                  <a:tcPr>
                    <a:solidFill>
                      <a:srgbClr val="FFFFFF"/>
                    </a:solidFill>
                  </a:tcPr>
                </a:tc>
                <a:tc>
                  <a:txBody>
                    <a:bodyPr/>
                    <a:lstStyle/>
                    <a:p>
                      <a:pPr>
                        <a:defRPr sz="1100" b="0">
                          <a:solidFill>
                            <a:srgbClr val="0F172A"/>
                          </a:solidFill>
                          <a:latin typeface="Arial"/>
                        </a:defRPr>
                      </a:pPr>
                      <a:r>
                        <a:t>4 vCPU / 8 GB RAM / 100 GB SSD NVMe / Red 1 Gbps / Protección contra ataques</a:t>
                      </a:r>
                    </a:p>
                  </a:txBody>
                  <a:tcPr>
                    <a:solidFill>
                      <a:srgbClr val="FFFFFF"/>
                    </a:solidFill>
                  </a:tcPr>
                </a:tc>
                <a:tc>
                  <a:txBody>
                    <a:bodyPr/>
                    <a:lstStyle/>
                    <a:p>
                      <a:pPr algn="ctr">
                        <a:defRPr sz="1100" b="0">
                          <a:solidFill>
                            <a:srgbClr val="0F172A"/>
                          </a:solidFill>
                          <a:latin typeface="Arial"/>
                        </a:defRPr>
                      </a:pPr>
                      <a:r>
                        <a:t>$20.00 USD</a:t>
                      </a:r>
                    </a:p>
                  </a:txBody>
                  <a:tcPr>
                    <a:solidFill>
                      <a:srgbClr val="FFFFFF"/>
                    </a:solidFill>
                  </a:tcPr>
                </a:tc>
                <a:tc>
                  <a:txBody>
                    <a:bodyPr/>
                    <a:lstStyle/>
                    <a:p>
                      <a:pPr algn="ctr">
                        <a:defRPr sz="1100" b="0">
                          <a:solidFill>
                            <a:srgbClr val="0F172A"/>
                          </a:solidFill>
                          <a:latin typeface="Arial"/>
                        </a:defRPr>
                      </a:pPr>
                      <a:r>
                        <a:t>$240.00 USD</a:t>
                      </a:r>
                    </a:p>
                  </a:txBody>
                  <a:tcPr>
                    <a:solidFill>
                      <a:srgbClr val="FFFFFF"/>
                    </a:solidFill>
                  </a:tcPr>
                </a:tc>
              </a:tr>
              <a:tr h="579120">
                <a:tc>
                  <a:txBody>
                    <a:bodyPr/>
                    <a:lstStyle/>
                    <a:p>
                      <a:pPr>
                        <a:defRPr sz="1100" b="1">
                          <a:solidFill>
                            <a:srgbClr val="0F172A"/>
                          </a:solidFill>
                          <a:latin typeface="Arial"/>
                        </a:defRPr>
                      </a:pPr>
                      <a:r>
                        <a:t>Dominio Institucional Oficial</a:t>
                      </a:r>
                    </a:p>
                  </a:txBody>
                  <a:tcPr>
                    <a:solidFill>
                      <a:srgbClr val="F1F5F9"/>
                    </a:solidFill>
                  </a:tcPr>
                </a:tc>
                <a:tc>
                  <a:txBody>
                    <a:bodyPr/>
                    <a:lstStyle/>
                    <a:p>
                      <a:pPr>
                        <a:defRPr sz="1100" b="0">
                          <a:solidFill>
                            <a:srgbClr val="0F172A"/>
                          </a:solidFill>
                          <a:latin typeface="Arial"/>
                        </a:defRPr>
                      </a:pPr>
                      <a:r>
                        <a:t>Registro anual de dominio web corporativo + Certificado SSL Wildcard (256 bits)</a:t>
                      </a:r>
                    </a:p>
                  </a:txBody>
                  <a:tcPr>
                    <a:solidFill>
                      <a:srgbClr val="F1F5F9"/>
                    </a:solidFill>
                  </a:tcPr>
                </a:tc>
                <a:tc>
                  <a:txBody>
                    <a:bodyPr/>
                    <a:lstStyle/>
                    <a:p>
                      <a:pPr algn="ctr">
                        <a:defRPr sz="1100" b="0">
                          <a:solidFill>
                            <a:srgbClr val="0F172A"/>
                          </a:solidFill>
                          <a:latin typeface="Arial"/>
                        </a:defRPr>
                      </a:pPr>
                      <a:r>
                        <a:t>$1.50 USD</a:t>
                      </a:r>
                    </a:p>
                  </a:txBody>
                  <a:tcPr>
                    <a:solidFill>
                      <a:srgbClr val="F1F5F9"/>
                    </a:solidFill>
                  </a:tcPr>
                </a:tc>
                <a:tc>
                  <a:txBody>
                    <a:bodyPr/>
                    <a:lstStyle/>
                    <a:p>
                      <a:pPr algn="ctr">
                        <a:defRPr sz="1100" b="0">
                          <a:solidFill>
                            <a:srgbClr val="0F172A"/>
                          </a:solidFill>
                          <a:latin typeface="Arial"/>
                        </a:defRPr>
                      </a:pPr>
                      <a:r>
                        <a:t>$18.00 USD</a:t>
                      </a:r>
                    </a:p>
                  </a:txBody>
                  <a:tcPr>
                    <a:solidFill>
                      <a:srgbClr val="F1F5F9"/>
                    </a:solidFill>
                  </a:tcPr>
                </a:tc>
              </a:tr>
              <a:tr h="579120">
                <a:tc>
                  <a:txBody>
                    <a:bodyPr/>
                    <a:lstStyle/>
                    <a:p>
                      <a:pPr>
                        <a:defRPr sz="1100" b="1">
                          <a:solidFill>
                            <a:srgbClr val="0F172A"/>
                          </a:solidFill>
                          <a:latin typeface="Arial"/>
                        </a:defRPr>
                      </a:pPr>
                      <a:r>
                        <a:t>IP Pública Fija Dedicada</a:t>
                      </a:r>
                    </a:p>
                  </a:txBody>
                  <a:tcPr>
                    <a:solidFill>
                      <a:srgbClr val="FFFFFF"/>
                    </a:solidFill>
                  </a:tcPr>
                </a:tc>
                <a:tc>
                  <a:txBody>
                    <a:bodyPr/>
                    <a:lstStyle/>
                    <a:p>
                      <a:pPr>
                        <a:defRPr sz="1100" b="0">
                          <a:solidFill>
                            <a:srgbClr val="0F172A"/>
                          </a:solidFill>
                          <a:latin typeface="Arial"/>
                        </a:defRPr>
                      </a:pPr>
                      <a:r>
                        <a:t>Dirección IP estática exclusiva para filtrado de seguridad en consola de mando</a:t>
                      </a:r>
                    </a:p>
                  </a:txBody>
                  <a:tcPr>
                    <a:solidFill>
                      <a:srgbClr val="FFFFFF"/>
                    </a:solidFill>
                  </a:tcPr>
                </a:tc>
                <a:tc>
                  <a:txBody>
                    <a:bodyPr/>
                    <a:lstStyle/>
                    <a:p>
                      <a:pPr algn="ctr">
                        <a:defRPr sz="1100" b="0">
                          <a:solidFill>
                            <a:srgbClr val="0F172A"/>
                          </a:solidFill>
                          <a:latin typeface="Arial"/>
                        </a:defRPr>
                      </a:pPr>
                      <a:r>
                        <a:t>$3.00 USD</a:t>
                      </a:r>
                    </a:p>
                  </a:txBody>
                  <a:tcPr>
                    <a:solidFill>
                      <a:srgbClr val="FFFFFF"/>
                    </a:solidFill>
                  </a:tcPr>
                </a:tc>
                <a:tc>
                  <a:txBody>
                    <a:bodyPr/>
                    <a:lstStyle/>
                    <a:p>
                      <a:pPr algn="ctr">
                        <a:defRPr sz="1100" b="0">
                          <a:solidFill>
                            <a:srgbClr val="0F172A"/>
                          </a:solidFill>
                          <a:latin typeface="Arial"/>
                        </a:defRPr>
                      </a:pPr>
                      <a:r>
                        <a:t>$36.00 USD</a:t>
                      </a:r>
                    </a:p>
                  </a:txBody>
                  <a:tcPr>
                    <a:solidFill>
                      <a:srgbClr val="FFFFFF"/>
                    </a:solidFill>
                  </a:tcPr>
                </a:tc>
              </a:tr>
              <a:tr h="579120">
                <a:tc>
                  <a:txBody>
                    <a:bodyPr/>
                    <a:lstStyle/>
                    <a:p>
                      <a:pPr>
                        <a:defRPr sz="1100" b="1">
                          <a:solidFill>
                            <a:srgbClr val="0F172A"/>
                          </a:solidFill>
                          <a:latin typeface="Arial"/>
                        </a:defRPr>
                      </a:pPr>
                      <a:r>
                        <a:t>Software de Servidor y Código</a:t>
                      </a:r>
                    </a:p>
                  </a:txBody>
                  <a:tcPr>
                    <a:solidFill>
                      <a:srgbClr val="F1F5F9"/>
                    </a:solidFill>
                  </a:tcPr>
                </a:tc>
                <a:tc>
                  <a:txBody>
                    <a:bodyPr/>
                    <a:lstStyle/>
                    <a:p>
                      <a:pPr>
                        <a:defRPr sz="1100" b="0">
                          <a:solidFill>
                            <a:srgbClr val="0F172A"/>
                          </a:solidFill>
                          <a:latin typeface="Arial"/>
                        </a:defRPr>
                      </a:pPr>
                      <a:r>
                        <a:t>Entorno Linux Ubuntu Server, Nginx, PostgreSQL, Fail2ban y módulos FOSS</a:t>
                      </a:r>
                    </a:p>
                  </a:txBody>
                  <a:tcPr>
                    <a:solidFill>
                      <a:srgbClr val="F1F5F9"/>
                    </a:solidFill>
                  </a:tcPr>
                </a:tc>
                <a:tc>
                  <a:txBody>
                    <a:bodyPr/>
                    <a:lstStyle/>
                    <a:p>
                      <a:pPr algn="ctr">
                        <a:defRPr sz="1100" b="0">
                          <a:solidFill>
                            <a:srgbClr val="0F172A"/>
                          </a:solidFill>
                          <a:latin typeface="Arial"/>
                        </a:defRPr>
                      </a:pPr>
                      <a:r>
                        <a:t>$0.00 USD</a:t>
                      </a:r>
                    </a:p>
                  </a:txBody>
                  <a:tcPr>
                    <a:solidFill>
                      <a:srgbClr val="F1F5F9"/>
                    </a:solidFill>
                  </a:tcPr>
                </a:tc>
                <a:tc>
                  <a:txBody>
                    <a:bodyPr/>
                    <a:lstStyle/>
                    <a:p>
                      <a:pPr algn="ctr">
                        <a:defRPr sz="1100" b="0">
                          <a:solidFill>
                            <a:srgbClr val="0F172A"/>
                          </a:solidFill>
                          <a:latin typeface="Arial"/>
                        </a:defRPr>
                      </a:pPr>
                      <a:r>
                        <a:t>$0.00 USD</a:t>
                      </a:r>
                    </a:p>
                  </a:txBody>
                  <a:tcPr>
                    <a:solidFill>
                      <a:srgbClr val="F1F5F9"/>
                    </a:solidFill>
                  </a:tcPr>
                </a:tc>
              </a:tr>
              <a:tr h="579120">
                <a:tc>
                  <a:txBody>
                    <a:bodyPr/>
                    <a:lstStyle/>
                    <a:p>
                      <a:pPr>
                        <a:defRPr sz="1150" b="1">
                          <a:solidFill>
                            <a:srgbClr val="1E3A8A"/>
                          </a:solidFill>
                          <a:latin typeface="Arial"/>
                        </a:defRPr>
                      </a:pPr>
                      <a:r>
                        <a:t>TOTAL MÍNIMO SOLICITADO (FASE 1):</a:t>
                      </a:r>
                    </a:p>
                  </a:txBody>
                  <a:tcPr>
                    <a:solidFill>
                      <a:srgbClr val="E0F2FE"/>
                    </a:solidFill>
                  </a:tcPr>
                </a:tc>
                <a:tc>
                  <a:txBody>
                    <a:bodyPr/>
                    <a:lstStyle/>
                    <a:p>
                      <a:pPr>
                        <a:defRPr sz="1150" b="1">
                          <a:solidFill>
                            <a:srgbClr val="1E3A8A"/>
                          </a:solidFill>
                          <a:latin typeface="Arial"/>
                        </a:defRPr>
                      </a:pPr>
                      <a:r>
                        <a:t>Infraestructura cloud dedicada y certificada para las pruebas piloto</a:t>
                      </a:r>
                    </a:p>
                  </a:txBody>
                  <a:tcPr>
                    <a:solidFill>
                      <a:srgbClr val="E0F2FE"/>
                    </a:solidFill>
                  </a:tcPr>
                </a:tc>
                <a:tc>
                  <a:txBody>
                    <a:bodyPr/>
                    <a:lstStyle/>
                    <a:p>
                      <a:pPr algn="ctr">
                        <a:defRPr sz="1150" b="1">
                          <a:solidFill>
                            <a:srgbClr val="1E3A8A"/>
                          </a:solidFill>
                          <a:latin typeface="Arial"/>
                        </a:defRPr>
                      </a:pPr>
                      <a:r>
                        <a:t>~$24.50 USD</a:t>
                      </a:r>
                    </a:p>
                  </a:txBody>
                  <a:tcPr>
                    <a:solidFill>
                      <a:srgbClr val="E0F2FE"/>
                    </a:solidFill>
                  </a:tcPr>
                </a:tc>
                <a:tc>
                  <a:txBody>
                    <a:bodyPr/>
                    <a:lstStyle/>
                    <a:p>
                      <a:pPr algn="ctr">
                        <a:defRPr sz="1150" b="1">
                          <a:solidFill>
                            <a:srgbClr val="1E3A8A"/>
                          </a:solidFill>
                          <a:latin typeface="Arial"/>
                        </a:defRPr>
                      </a:pPr>
                      <a:r>
                        <a:t>$294.00 USD</a:t>
                      </a:r>
                    </a:p>
                  </a:txBody>
                  <a:tcPr>
                    <a:solidFill>
                      <a:srgbClr val="E0F2F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Plan de Despliegue Escalonado por Fases</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5120640" cy="4572000"/>
          </a:xfrm>
          <a:prstGeom prst="roundRect">
            <a:avLst/>
          </a:prstGeom>
          <a:solidFill>
            <a:srgbClr val="FFFFFF"/>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4114800"/>
          </a:xfrm>
          <a:prstGeom prst="rect">
            <a:avLst/>
          </a:prstGeom>
          <a:noFill/>
        </p:spPr>
        <p:txBody>
          <a:bodyPr wrap="square">
            <a:spAutoFit/>
          </a:bodyPr>
          <a:lstStyle/>
          <a:p>
            <a:pPr>
              <a:spcAft>
                <a:spcPts val="600"/>
              </a:spcAft>
              <a:defRPr sz="1500" b="1">
                <a:solidFill>
                  <a:srgbClr val="059669"/>
                </a:solidFill>
                <a:latin typeface="Arial"/>
              </a:defRPr>
            </a:pPr>
            <a:r>
              <a:t>🚀 FASE 1: Inmediata (Objeto de esta Solicitud)</a:t>
            </a:r>
          </a:p>
          <a:p>
            <a:pPr>
              <a:spcAft>
                <a:spcPts val="1200"/>
              </a:spcAft>
              <a:defRPr sz="1150" i="1">
                <a:solidFill>
                  <a:srgbClr val="64748B"/>
                </a:solidFill>
                <a:latin typeface="Arial"/>
              </a:defRPr>
            </a:pPr>
            <a:r>
              <a:t>Inversión requerida: $294.00 USD anuales</a:t>
            </a:r>
          </a:p>
          <a:p>
            <a:pPr>
              <a:spcAft>
                <a:spcPts val="800"/>
              </a:spcAft>
              <a:defRPr sz="1150">
                <a:solidFill>
                  <a:srgbClr val="334155"/>
                </a:solidFill>
                <a:latin typeface="Arial"/>
              </a:defRPr>
            </a:pPr>
            <a:r>
              <a:t>▪ Contratación del servidor cloud VPS y vinculación del dominio institucional.</a:t>
            </a:r>
          </a:p>
          <a:p>
            <a:pPr>
              <a:spcAft>
                <a:spcPts val="800"/>
              </a:spcAft>
              <a:defRPr sz="1150">
                <a:solidFill>
                  <a:srgbClr val="334155"/>
                </a:solidFill>
                <a:latin typeface="Arial"/>
              </a:defRPr>
            </a:pPr>
            <a:r>
              <a:t>▪ Instalación de la arquitectura de seguridad, reglas de firewall y certificados SSL de 256 bits.</a:t>
            </a:r>
          </a:p>
          <a:p>
            <a:pPr>
              <a:spcAft>
                <a:spcPts val="800"/>
              </a:spcAft>
              <a:defRPr sz="1150">
                <a:solidFill>
                  <a:srgbClr val="334155"/>
                </a:solidFill>
                <a:latin typeface="Arial"/>
              </a:defRPr>
            </a:pPr>
            <a:r>
              <a:t>▪ Ejecución de pruebas de carga, concurrencia y auditoría técnica de puertos.</a:t>
            </a:r>
          </a:p>
          <a:p>
            <a:pPr>
              <a:spcAft>
                <a:spcPts val="800"/>
              </a:spcAft>
              <a:defRPr sz="1150">
                <a:solidFill>
                  <a:srgbClr val="334155"/>
                </a:solidFill>
                <a:latin typeface="Arial"/>
              </a:defRPr>
            </a:pPr>
            <a:r>
              <a:t>▪ Validación operativa en 3 parroquias piloto de Maturín: Las Cocuizas, San Simón y Alto de Los Godos con coordinadores reales.</a:t>
            </a:r>
          </a:p>
        </p:txBody>
      </p:sp>
      <p:sp>
        <p:nvSpPr>
          <p:cNvPr id="9" name="Rounded Rectangle 8"/>
          <p:cNvSpPr/>
          <p:nvPr/>
        </p:nvSpPr>
        <p:spPr>
          <a:xfrm>
            <a:off x="6217920" y="1645920"/>
            <a:ext cx="5212080" cy="45720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28800"/>
            <a:ext cx="4663440" cy="4114800"/>
          </a:xfrm>
          <a:prstGeom prst="rect">
            <a:avLst/>
          </a:prstGeom>
          <a:noFill/>
        </p:spPr>
        <p:txBody>
          <a:bodyPr wrap="square">
            <a:spAutoFit/>
          </a:bodyPr>
          <a:lstStyle/>
          <a:p>
            <a:pPr>
              <a:spcAft>
                <a:spcPts val="600"/>
              </a:spcAft>
              <a:defRPr sz="1500" b="1">
                <a:solidFill>
                  <a:srgbClr val="0F172A"/>
                </a:solidFill>
                <a:latin typeface="Arial"/>
              </a:defRPr>
            </a:pPr>
            <a:r>
              <a:t>🏢 FASE 2: Consolidación de Sala Situacional Física</a:t>
            </a:r>
          </a:p>
          <a:p>
            <a:pPr>
              <a:spcAft>
                <a:spcPts val="1200"/>
              </a:spcAft>
              <a:defRPr sz="1150" i="1">
                <a:solidFill>
                  <a:srgbClr val="64748B"/>
                </a:solidFill>
                <a:latin typeface="Arial"/>
              </a:defRPr>
            </a:pPr>
            <a:r>
              <a:t>Planificación diferida sujeta a disponibilidad de recursos:</a:t>
            </a:r>
          </a:p>
          <a:p>
            <a:pPr>
              <a:spcAft>
                <a:spcPts val="800"/>
              </a:spcAft>
              <a:defRPr sz="1150">
                <a:solidFill>
                  <a:srgbClr val="64748B"/>
                </a:solidFill>
                <a:latin typeface="Arial"/>
              </a:defRPr>
            </a:pPr>
            <a:r>
              <a:t>▪ Acondicionamiento físico del centro de seguimiento y monitoreo territorial.</a:t>
            </a:r>
          </a:p>
          <a:p>
            <a:pPr>
              <a:spcAft>
                <a:spcPts val="800"/>
              </a:spcAft>
              <a:defRPr sz="1150">
                <a:solidFill>
                  <a:srgbClr val="64748B"/>
                </a:solidFill>
                <a:latin typeface="Arial"/>
              </a:defRPr>
            </a:pPr>
            <a:r>
              <a:t>▪ Dotación de equipos de computación dedicados para operadores de consola.</a:t>
            </a:r>
          </a:p>
          <a:p>
            <a:pPr>
              <a:spcAft>
                <a:spcPts val="800"/>
              </a:spcAft>
              <a:defRPr sz="1150">
                <a:solidFill>
                  <a:srgbClr val="64748B"/>
                </a:solidFill>
                <a:latin typeface="Arial"/>
              </a:defRPr>
            </a:pPr>
            <a:r>
              <a:t>▪ Instalación de pantallas de visualización general para seguimiento en tiempo real.</a:t>
            </a:r>
          </a:p>
          <a:p>
            <a:pPr>
              <a:spcAft>
                <a:spcPts val="800"/>
              </a:spcAft>
              <a:defRPr sz="1150">
                <a:solidFill>
                  <a:srgbClr val="64748B"/>
                </a:solidFill>
                <a:latin typeface="Arial"/>
              </a:defRPr>
            </a:pPr>
            <a:r>
              <a:t>▪ Sistemas de respaldo eléctrico (inversores / UPS) para garantizar continuidad operativa ante fallas del servicio eléctrico regional.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320040"/>
          </a:xfrm>
          <a:prstGeom prst="rect">
            <a:avLst/>
          </a:prstGeom>
          <a:noFill/>
        </p:spPr>
        <p:txBody>
          <a:bodyPr wrap="square">
            <a:spAutoFit/>
          </a:bodyPr>
          <a:lstStyle/>
          <a:p>
            <a:pPr>
              <a:defRPr sz="1000" b="1">
                <a:solidFill>
                  <a:srgbClr val="0284C7"/>
                </a:solidFill>
                <a:latin typeface="Arial"/>
              </a:defRPr>
            </a:pPr>
            <a:r>
              <a:t>MIGATO • EQUIPO TÉCNICO DE SISTEMAS Y ARQUITECTURA DIGITAL</a:t>
            </a:r>
          </a:p>
        </p:txBody>
      </p:sp>
      <p:sp>
        <p:nvSpPr>
          <p:cNvPr id="4" name="TextBox 3"/>
          <p:cNvSpPr txBox="1"/>
          <p:nvPr/>
        </p:nvSpPr>
        <p:spPr>
          <a:xfrm>
            <a:off x="731520" y="658368"/>
            <a:ext cx="9601200" cy="685800"/>
          </a:xfrm>
          <a:prstGeom prst="rect">
            <a:avLst/>
          </a:prstGeom>
          <a:noFill/>
        </p:spPr>
        <p:txBody>
          <a:bodyPr wrap="square">
            <a:spAutoFit/>
          </a:bodyPr>
          <a:lstStyle/>
          <a:p>
            <a:pPr>
              <a:defRPr sz="2200" b="1">
                <a:solidFill>
                  <a:srgbClr val="0F172A"/>
                </a:solidFill>
                <a:latin typeface="Arial"/>
              </a:defRPr>
            </a:pPr>
            <a:r>
              <a:t>Conclusión y Recomendación Final del Equipo Técnico</a:t>
            </a:r>
          </a:p>
        </p:txBody>
      </p:sp>
      <p:pic>
        <p:nvPicPr>
          <p:cNvPr id="5" name="Picture 4" descr="logo-migato.png"/>
          <p:cNvPicPr>
            <a:picLocks noChangeAspect="1"/>
          </p:cNvPicPr>
          <p:nvPr/>
        </p:nvPicPr>
        <p:blipFill>
          <a:blip r:embed="rId2"/>
          <a:stretch>
            <a:fillRect/>
          </a:stretch>
        </p:blipFill>
        <p:spPr>
          <a:xfrm>
            <a:off x="10789920" y="365760"/>
            <a:ext cx="685800" cy="685800"/>
          </a:xfrm>
          <a:prstGeom prst="rect">
            <a:avLst/>
          </a:prstGeom>
        </p:spPr>
      </p:pic>
      <p:sp>
        <p:nvSpPr>
          <p:cNvPr id="6" name="Rectangle 5"/>
          <p:cNvSpPr/>
          <p:nvPr/>
        </p:nvSpPr>
        <p:spPr>
          <a:xfrm>
            <a:off x="731520" y="1371600"/>
            <a:ext cx="10728655" cy="1828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7280" y="1645920"/>
            <a:ext cx="9997135" cy="4572000"/>
          </a:xfrm>
          <a:prstGeom prst="roundRect">
            <a:avLst/>
          </a:prstGeom>
          <a:solidFill>
            <a:srgbClr val="FFFF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1828800"/>
            <a:ext cx="9448495" cy="4114800"/>
          </a:xfrm>
          <a:prstGeom prst="rect">
            <a:avLst/>
          </a:prstGeom>
          <a:noFill/>
        </p:spPr>
        <p:txBody>
          <a:bodyPr wrap="square">
            <a:spAutoFit/>
          </a:bodyPr>
          <a:lstStyle/>
          <a:p>
            <a:pPr>
              <a:spcAft>
                <a:spcPts val="1400"/>
              </a:spcAft>
              <a:defRPr sz="1700" b="1">
                <a:solidFill>
                  <a:srgbClr val="1E3A8A"/>
                </a:solidFill>
                <a:latin typeface="Arial"/>
              </a:defRPr>
            </a:pPr>
            <a:r>
              <a:t>✅ Dictamen Favorable y Factibilidad Técnica</a:t>
            </a:r>
          </a:p>
          <a:p>
            <a:pPr>
              <a:spcAft>
                <a:spcPts val="200"/>
              </a:spcAft>
              <a:defRPr sz="1200" b="1">
                <a:solidFill>
                  <a:srgbClr val="0F172A"/>
                </a:solidFill>
                <a:latin typeface="Arial"/>
              </a:defRPr>
            </a:pPr>
            <a:r>
              <a:t>▪ Madurez Funcional Comprobada: </a:t>
            </a:r>
          </a:p>
          <a:p>
            <a:pPr>
              <a:spcAft>
                <a:spcPts val="800"/>
              </a:spcAft>
              <a:defRPr sz="1150">
                <a:solidFill>
                  <a:srgbClr val="334155"/>
                </a:solidFill>
                <a:latin typeface="Arial"/>
              </a:defRPr>
            </a:pPr>
            <a:r>
              <a:t>   Los cinco módulos se encuentran programados y evaluados en entornos de prueba, garantizando plena operatividad sin riesgos de desarrollo.</a:t>
            </a:r>
          </a:p>
          <a:p>
            <a:pPr>
              <a:spcAft>
                <a:spcPts val="200"/>
              </a:spcAft>
              <a:defRPr sz="1200" b="1">
                <a:solidFill>
                  <a:srgbClr val="0F172A"/>
                </a:solidFill>
                <a:latin typeface="Arial"/>
              </a:defRPr>
            </a:pPr>
            <a:r>
              <a:t>▪ Seguridad y Protección Institucional: </a:t>
            </a:r>
          </a:p>
          <a:p>
            <a:pPr>
              <a:spcAft>
                <a:spcPts val="800"/>
              </a:spcAft>
              <a:defRPr sz="1150">
                <a:solidFill>
                  <a:srgbClr val="334155"/>
                </a:solidFill>
                <a:latin typeface="Arial"/>
              </a:defRPr>
            </a:pPr>
            <a:r>
              <a:t>   El esquema de tokens web efímeros y formularios sin almacenamiento residual en dispositivos brinda tranquilidad y resguardo absoluto a la militancia.</a:t>
            </a:r>
          </a:p>
          <a:p>
            <a:pPr>
              <a:spcAft>
                <a:spcPts val="200"/>
              </a:spcAft>
              <a:defRPr sz="1200" b="1">
                <a:solidFill>
                  <a:srgbClr val="0F172A"/>
                </a:solidFill>
                <a:latin typeface="Arial"/>
              </a:defRPr>
            </a:pPr>
            <a:r>
              <a:t>▪ Alta Rentabilidad de la Inversión: </a:t>
            </a:r>
          </a:p>
          <a:p>
            <a:pPr>
              <a:spcAft>
                <a:spcPts val="800"/>
              </a:spcAft>
              <a:defRPr sz="1150">
                <a:solidFill>
                  <a:srgbClr val="334155"/>
                </a:solidFill>
                <a:latin typeface="Arial"/>
              </a:defRPr>
            </a:pPr>
            <a:r>
              <a:t>   El monto solicitado ($294.00 USD anuales) cubre exclusivamente costos directos de servidor cloud, representando un valor mínimo frente a su alto impacto estratégico.</a:t>
            </a:r>
          </a:p>
          <a:p>
            <a:pPr>
              <a:spcBef>
                <a:spcPts val="800"/>
              </a:spcBef>
              <a:defRPr sz="1250" b="1">
                <a:solidFill>
                  <a:srgbClr val="1E3A8A"/>
                </a:solidFill>
                <a:latin typeface="Arial"/>
              </a:defRPr>
            </a:pPr>
            <a:r>
              <a:t>RECOMENDACIÓN FINAL: Aprobar el presupuesto operativo de $294.00 USD anuales para proceder de inmediato con la contratación del servidor dedicado y el encendido formal de la Fase 1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